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79" r:id="rId2"/>
    <p:sldId id="281" r:id="rId3"/>
    <p:sldId id="282" r:id="rId4"/>
    <p:sldId id="283" r:id="rId5"/>
    <p:sldId id="284" r:id="rId6"/>
    <p:sldId id="297" r:id="rId7"/>
    <p:sldId id="299" r:id="rId8"/>
    <p:sldId id="286" r:id="rId9"/>
    <p:sldId id="298" r:id="rId10"/>
    <p:sldId id="287" r:id="rId11"/>
    <p:sldId id="288" r:id="rId12"/>
    <p:sldId id="289" r:id="rId13"/>
    <p:sldId id="290" r:id="rId14"/>
    <p:sldId id="291" r:id="rId15"/>
    <p:sldId id="292" r:id="rId16"/>
    <p:sldId id="293" r:id="rId17"/>
    <p:sldId id="294" r:id="rId18"/>
    <p:sldId id="295" r:id="rId19"/>
    <p:sldId id="29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9" autoAdjust="0"/>
  </p:normalViewPr>
  <p:slideViewPr>
    <p:cSldViewPr snapToGrid="0">
      <p:cViewPr varScale="1">
        <p:scale>
          <a:sx n="96" d="100"/>
          <a:sy n="96" d="100"/>
        </p:scale>
        <p:origin x="1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31AB41-0BC9-4415-9E0C-0C22A2E30A5B}"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5DFC38-A1D0-4278-BE6B-F93AC83088A0}" type="slidenum">
              <a:rPr lang="en-IN" smtClean="0"/>
              <a:t>‹#›</a:t>
            </a:fld>
            <a:endParaRPr lang="en-IN"/>
          </a:p>
        </p:txBody>
      </p:sp>
    </p:spTree>
    <p:extLst>
      <p:ext uri="{BB962C8B-B14F-4D97-AF65-F5344CB8AC3E}">
        <p14:creationId xmlns:p14="http://schemas.microsoft.com/office/powerpoint/2010/main" val="3591102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5DFC38-A1D0-4278-BE6B-F93AC83088A0}" type="slidenum">
              <a:rPr lang="en-IN" smtClean="0"/>
              <a:t>3</a:t>
            </a:fld>
            <a:endParaRPr lang="en-IN"/>
          </a:p>
        </p:txBody>
      </p:sp>
    </p:spTree>
    <p:extLst>
      <p:ext uri="{BB962C8B-B14F-4D97-AF65-F5344CB8AC3E}">
        <p14:creationId xmlns:p14="http://schemas.microsoft.com/office/powerpoint/2010/main" val="77037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5DFC38-A1D0-4278-BE6B-F93AC83088A0}" type="slidenum">
              <a:rPr lang="en-IN" smtClean="0"/>
              <a:t>6</a:t>
            </a:fld>
            <a:endParaRPr lang="en-IN"/>
          </a:p>
        </p:txBody>
      </p:sp>
    </p:spTree>
    <p:extLst>
      <p:ext uri="{BB962C8B-B14F-4D97-AF65-F5344CB8AC3E}">
        <p14:creationId xmlns:p14="http://schemas.microsoft.com/office/powerpoint/2010/main" val="1506846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86F9F-BDCF-8D1A-1490-CB6106C2B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FC002-1B44-DE26-6353-620EA1C70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57EDE-6272-CF48-C1E1-0BD0EC7A4D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48A452-AFCE-EF7E-C54A-5ACDAD0D1631}"/>
              </a:ext>
            </a:extLst>
          </p:cNvPr>
          <p:cNvSpPr>
            <a:spLocks noGrp="1"/>
          </p:cNvSpPr>
          <p:nvPr>
            <p:ph type="sldNum" sz="quarter" idx="5"/>
          </p:nvPr>
        </p:nvSpPr>
        <p:spPr/>
        <p:txBody>
          <a:bodyPr/>
          <a:lstStyle/>
          <a:p>
            <a:fld id="{CF5DFC38-A1D0-4278-BE6B-F93AC83088A0}" type="slidenum">
              <a:rPr lang="en-IN" smtClean="0"/>
              <a:t>7</a:t>
            </a:fld>
            <a:endParaRPr lang="en-IN"/>
          </a:p>
        </p:txBody>
      </p:sp>
    </p:spTree>
    <p:extLst>
      <p:ext uri="{BB962C8B-B14F-4D97-AF65-F5344CB8AC3E}">
        <p14:creationId xmlns:p14="http://schemas.microsoft.com/office/powerpoint/2010/main" val="1160019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5DFC38-A1D0-4278-BE6B-F93AC83088A0}" type="slidenum">
              <a:rPr lang="en-IN" smtClean="0"/>
              <a:t>17</a:t>
            </a:fld>
            <a:endParaRPr lang="en-IN"/>
          </a:p>
        </p:txBody>
      </p:sp>
    </p:spTree>
    <p:extLst>
      <p:ext uri="{BB962C8B-B14F-4D97-AF65-F5344CB8AC3E}">
        <p14:creationId xmlns:p14="http://schemas.microsoft.com/office/powerpoint/2010/main" val="8926300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3182FD-906E-489E-9CBD-3FEC71BD50C8}" type="datetime1">
              <a:rPr lang="en-IN" smtClean="0"/>
              <a:t>02-12-2025</a:t>
            </a:fld>
            <a:endParaRPr lang="en-IN"/>
          </a:p>
        </p:txBody>
      </p:sp>
      <p:sp>
        <p:nvSpPr>
          <p:cNvPr id="5" name="Footer Placeholder 4"/>
          <p:cNvSpPr>
            <a:spLocks noGrp="1"/>
          </p:cNvSpPr>
          <p:nvPr>
            <p:ph type="ftr" sz="quarter" idx="11"/>
          </p:nvPr>
        </p:nvSpPr>
        <p:spPr/>
        <p:txBody>
          <a:bodyPr/>
          <a:lstStyle/>
          <a:p>
            <a:r>
              <a:rPr lang="en-US"/>
              <a:t>DEPT OF CSE , CBIT - KOLAR</a:t>
            </a:r>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7D4FA0A-0A07-4575-80E4-484C51076B40}" type="slidenum">
              <a:rPr lang="en-IN" smtClean="0"/>
              <a:t>‹#›</a:t>
            </a:fld>
            <a:endParaRPr lang="en-IN"/>
          </a:p>
        </p:txBody>
      </p:sp>
    </p:spTree>
    <p:extLst>
      <p:ext uri="{BB962C8B-B14F-4D97-AF65-F5344CB8AC3E}">
        <p14:creationId xmlns:p14="http://schemas.microsoft.com/office/powerpoint/2010/main" val="217935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ABAD2D-064D-4FF7-8B40-C44260FE90B0}" type="datetime1">
              <a:rPr lang="en-IN" smtClean="0"/>
              <a:t>02-12-2025</a:t>
            </a:fld>
            <a:endParaRPr lang="en-IN"/>
          </a:p>
        </p:txBody>
      </p:sp>
      <p:sp>
        <p:nvSpPr>
          <p:cNvPr id="5" name="Footer Placeholder 4"/>
          <p:cNvSpPr>
            <a:spLocks noGrp="1"/>
          </p:cNvSpPr>
          <p:nvPr>
            <p:ph type="ftr" sz="quarter" idx="11"/>
          </p:nvPr>
        </p:nvSpPr>
        <p:spPr/>
        <p:txBody>
          <a:bodyPr/>
          <a:lstStyle/>
          <a:p>
            <a:r>
              <a:rPr lang="en-US"/>
              <a:t>DEPT OF CSE , CBIT - KOLAR</a:t>
            </a:r>
            <a:endParaRPr lang="en-IN"/>
          </a:p>
        </p:txBody>
      </p:sp>
      <p:sp>
        <p:nvSpPr>
          <p:cNvPr id="6" name="Slide Number Placeholder 5"/>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1717897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8EB626-6CCE-49BA-AEF2-3E06B98FA637}" type="datetime1">
              <a:rPr lang="en-IN" smtClean="0"/>
              <a:t>02-12-2025</a:t>
            </a:fld>
            <a:endParaRPr lang="en-IN"/>
          </a:p>
        </p:txBody>
      </p:sp>
      <p:sp>
        <p:nvSpPr>
          <p:cNvPr id="5" name="Footer Placeholder 4"/>
          <p:cNvSpPr>
            <a:spLocks noGrp="1"/>
          </p:cNvSpPr>
          <p:nvPr>
            <p:ph type="ftr" sz="quarter" idx="11"/>
          </p:nvPr>
        </p:nvSpPr>
        <p:spPr>
          <a:xfrm>
            <a:off x="2182708" y="6272784"/>
            <a:ext cx="6327648" cy="365125"/>
          </a:xfrm>
        </p:spPr>
        <p:txBody>
          <a:bodyPr/>
          <a:lstStyle/>
          <a:p>
            <a:r>
              <a:rPr lang="en-US"/>
              <a:t>DEPT OF CSE , CBIT - KOLAR</a:t>
            </a:r>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7D4FA0A-0A07-4575-80E4-484C51076B40}" type="slidenum">
              <a:rPr lang="en-IN" smtClean="0"/>
              <a:t>‹#›</a:t>
            </a:fld>
            <a:endParaRPr lang="en-IN"/>
          </a:p>
        </p:txBody>
      </p:sp>
    </p:spTree>
    <p:extLst>
      <p:ext uri="{BB962C8B-B14F-4D97-AF65-F5344CB8AC3E}">
        <p14:creationId xmlns:p14="http://schemas.microsoft.com/office/powerpoint/2010/main" val="1153447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E5CF93-DA08-4C67-B85E-164B557FA8F8}" type="datetime1">
              <a:rPr lang="en-IN" smtClean="0"/>
              <a:t>02-12-2025</a:t>
            </a:fld>
            <a:endParaRPr lang="en-IN"/>
          </a:p>
        </p:txBody>
      </p:sp>
      <p:sp>
        <p:nvSpPr>
          <p:cNvPr id="6" name="Footer Placeholder 5"/>
          <p:cNvSpPr>
            <a:spLocks noGrp="1"/>
          </p:cNvSpPr>
          <p:nvPr>
            <p:ph type="ftr" sz="quarter" idx="11"/>
          </p:nvPr>
        </p:nvSpPr>
        <p:spPr/>
        <p:txBody>
          <a:bodyPr/>
          <a:lstStyle/>
          <a:p>
            <a:r>
              <a:rPr lang="en-US"/>
              <a:t>DEPT OF CSE , CBIT - KOLAR</a:t>
            </a:r>
            <a:endParaRPr lang="en-IN"/>
          </a:p>
        </p:txBody>
      </p:sp>
      <p:sp>
        <p:nvSpPr>
          <p:cNvPr id="7" name="Slide Number Placeholder 6"/>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173394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2B6883-F632-4642-8027-1EA22D3892A7}" type="datetime1">
              <a:rPr lang="en-IN" smtClean="0"/>
              <a:t>02-12-2025</a:t>
            </a:fld>
            <a:endParaRPr lang="en-IN"/>
          </a:p>
        </p:txBody>
      </p:sp>
      <p:sp>
        <p:nvSpPr>
          <p:cNvPr id="8" name="Footer Placeholder 7"/>
          <p:cNvSpPr>
            <a:spLocks noGrp="1"/>
          </p:cNvSpPr>
          <p:nvPr>
            <p:ph type="ftr" sz="quarter" idx="11"/>
          </p:nvPr>
        </p:nvSpPr>
        <p:spPr/>
        <p:txBody>
          <a:bodyPr/>
          <a:lstStyle/>
          <a:p>
            <a:r>
              <a:rPr lang="en-US"/>
              <a:t>DEPT OF CSE , CBIT - KOLAR</a:t>
            </a:r>
            <a:endParaRPr lang="en-IN"/>
          </a:p>
        </p:txBody>
      </p:sp>
      <p:sp>
        <p:nvSpPr>
          <p:cNvPr id="9" name="Slide Number Placeholder 8"/>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2897182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12A1D6-2BCF-4A51-831C-022F979F184B}" type="datetime1">
              <a:rPr lang="en-IN" smtClean="0"/>
              <a:t>02-12-2025</a:t>
            </a:fld>
            <a:endParaRPr lang="en-IN"/>
          </a:p>
        </p:txBody>
      </p:sp>
      <p:sp>
        <p:nvSpPr>
          <p:cNvPr id="4" name="Footer Placeholder 3"/>
          <p:cNvSpPr>
            <a:spLocks noGrp="1"/>
          </p:cNvSpPr>
          <p:nvPr>
            <p:ph type="ftr" sz="quarter" idx="11"/>
          </p:nvPr>
        </p:nvSpPr>
        <p:spPr/>
        <p:txBody>
          <a:bodyPr/>
          <a:lstStyle/>
          <a:p>
            <a:r>
              <a:rPr lang="en-US"/>
              <a:t>DEPT OF CSE , CBIT - KOLAR</a:t>
            </a:r>
            <a:endParaRPr lang="en-IN"/>
          </a:p>
        </p:txBody>
      </p:sp>
      <p:sp>
        <p:nvSpPr>
          <p:cNvPr id="5" name="Slide Number Placeholder 4"/>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1197536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B0DE55-EEAC-4B83-AF58-9593CD4F84D2}" type="datetime1">
              <a:rPr lang="en-IN" smtClean="0"/>
              <a:t>02-12-2025</a:t>
            </a:fld>
            <a:endParaRPr lang="en-IN"/>
          </a:p>
        </p:txBody>
      </p:sp>
      <p:sp>
        <p:nvSpPr>
          <p:cNvPr id="3" name="Footer Placeholder 2"/>
          <p:cNvSpPr>
            <a:spLocks noGrp="1"/>
          </p:cNvSpPr>
          <p:nvPr>
            <p:ph type="ftr" sz="quarter" idx="11"/>
          </p:nvPr>
        </p:nvSpPr>
        <p:spPr/>
        <p:txBody>
          <a:bodyPr/>
          <a:lstStyle/>
          <a:p>
            <a:r>
              <a:rPr lang="en-US"/>
              <a:t>DEPT OF CSE , CBIT - KOLAR</a:t>
            </a:r>
            <a:endParaRPr lang="en-IN"/>
          </a:p>
        </p:txBody>
      </p:sp>
      <p:sp>
        <p:nvSpPr>
          <p:cNvPr id="4" name="Slide Number Placeholder 3"/>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3304250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83A3D4-B631-4105-9F33-45D5E46823D0}" type="datetime1">
              <a:rPr lang="en-IN" smtClean="0"/>
              <a:t>02-12-2025</a:t>
            </a:fld>
            <a:endParaRPr lang="en-IN"/>
          </a:p>
        </p:txBody>
      </p:sp>
      <p:sp>
        <p:nvSpPr>
          <p:cNvPr id="6" name="Footer Placeholder 5"/>
          <p:cNvSpPr>
            <a:spLocks noGrp="1"/>
          </p:cNvSpPr>
          <p:nvPr>
            <p:ph type="ftr" sz="quarter" idx="11"/>
          </p:nvPr>
        </p:nvSpPr>
        <p:spPr/>
        <p:txBody>
          <a:bodyPr/>
          <a:lstStyle/>
          <a:p>
            <a:r>
              <a:rPr lang="en-US"/>
              <a:t>DEPT OF CSE , CBIT - KOLAR</a:t>
            </a:r>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IN"/>
            </a:p>
          </p:txBody>
        </p:sp>
      </p:grpSp>
      <p:sp>
        <p:nvSpPr>
          <p:cNvPr id="7" name="Slide Number Placeholder 6"/>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2658866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FA8379-8290-4829-8890-20FF446B6654}" type="datetime1">
              <a:rPr lang="en-IN" smtClean="0"/>
              <a:t>02-12-2025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IN"/>
            </a:p>
          </p:txBody>
        </p:sp>
      </p:grpSp>
      <p:sp>
        <p:nvSpPr>
          <p:cNvPr id="7" name="Slide Number Placeholder 6"/>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2481377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EE7526-BC79-45F5-BEF3-FA2A5B03BC98}" type="datetime1">
              <a:rPr lang="en-IN" smtClean="0"/>
              <a:t>02-12-2025</a:t>
            </a:fld>
            <a:endParaRPr lang="en-IN"/>
          </a:p>
        </p:txBody>
      </p:sp>
      <p:sp>
        <p:nvSpPr>
          <p:cNvPr id="5" name="Footer Placeholder 4"/>
          <p:cNvSpPr>
            <a:spLocks noGrp="1"/>
          </p:cNvSpPr>
          <p:nvPr>
            <p:ph type="ftr" sz="quarter" idx="11"/>
          </p:nvPr>
        </p:nvSpPr>
        <p:spPr/>
        <p:txBody>
          <a:bodyPr/>
          <a:lstStyle/>
          <a:p>
            <a:r>
              <a:rPr lang="en-US"/>
              <a:t>DEPT OF CSE , CBIT - KOLAR</a:t>
            </a:r>
            <a:endParaRPr lang="en-IN"/>
          </a:p>
        </p:txBody>
      </p:sp>
      <p:sp>
        <p:nvSpPr>
          <p:cNvPr id="6" name="Slide Number Placeholder 5"/>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1131133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796F47-870C-49D4-9EC8-D0D15A41013A}" type="datetime1">
              <a:rPr lang="en-IN" smtClean="0"/>
              <a:t>02-12-2025</a:t>
            </a:fld>
            <a:endParaRPr lang="en-IN"/>
          </a:p>
        </p:txBody>
      </p:sp>
      <p:sp>
        <p:nvSpPr>
          <p:cNvPr id="5" name="Footer Placeholder 4"/>
          <p:cNvSpPr>
            <a:spLocks noGrp="1"/>
          </p:cNvSpPr>
          <p:nvPr>
            <p:ph type="ftr" sz="quarter" idx="11"/>
          </p:nvPr>
        </p:nvSpPr>
        <p:spPr/>
        <p:txBody>
          <a:bodyPr/>
          <a:lstStyle/>
          <a:p>
            <a:r>
              <a:rPr lang="en-US"/>
              <a:t>DEPT OF CSE , CBIT - KOLAR</a:t>
            </a:r>
            <a:endParaRPr lang="en-IN"/>
          </a:p>
        </p:txBody>
      </p:sp>
      <p:sp>
        <p:nvSpPr>
          <p:cNvPr id="6" name="Slide Number Placeholder 5"/>
          <p:cNvSpPr>
            <a:spLocks noGrp="1"/>
          </p:cNvSpPr>
          <p:nvPr>
            <p:ph type="sldNum" sz="quarter" idx="12"/>
          </p:nvPr>
        </p:nvSpPr>
        <p:spPr/>
        <p:txBody>
          <a:bodyPr/>
          <a:lstStyle/>
          <a:p>
            <a:fld id="{97D4FA0A-0A07-4575-80E4-484C51076B40}" type="slidenum">
              <a:rPr lang="en-IN" smtClean="0"/>
              <a:t>‹#›</a:t>
            </a:fld>
            <a:endParaRPr lang="en-IN"/>
          </a:p>
        </p:txBody>
      </p:sp>
    </p:spTree>
    <p:extLst>
      <p:ext uri="{BB962C8B-B14F-4D97-AF65-F5344CB8AC3E}">
        <p14:creationId xmlns:p14="http://schemas.microsoft.com/office/powerpoint/2010/main" val="4007438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270FB61-C7D0-4FA6-9348-6C741610C4FA}" type="datetime1">
              <a:rPr lang="en-IN" smtClean="0"/>
              <a:t>02-12-2025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a:t>DEPT OF CSE , CBIT - KOLAR</a:t>
            </a:r>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7D4FA0A-0A07-4575-80E4-484C51076B40}" type="slidenum">
              <a:rPr lang="en-IN" smtClean="0"/>
              <a:t>‹#›</a:t>
            </a:fld>
            <a:endParaRPr lang="en-IN"/>
          </a:p>
        </p:txBody>
      </p:sp>
    </p:spTree>
    <p:extLst>
      <p:ext uri="{BB962C8B-B14F-4D97-AF65-F5344CB8AC3E}">
        <p14:creationId xmlns:p14="http://schemas.microsoft.com/office/powerpoint/2010/main" val="113171317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C50F-9C36-CA81-A236-7C89DB0BDCCD}"/>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FE89D252-63F3-057B-CF0B-73DD7CD78492}"/>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8401B43D-DF97-F78B-01B1-E6E4BEFD50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902"/>
            <a:ext cx="12192000" cy="6858000"/>
          </a:xfrm>
        </p:spPr>
      </p:pic>
      <p:sp>
        <p:nvSpPr>
          <p:cNvPr id="11" name="Title 1">
            <a:extLst>
              <a:ext uri="{FF2B5EF4-FFF2-40B4-BE49-F238E27FC236}">
                <a16:creationId xmlns:a16="http://schemas.microsoft.com/office/drawing/2014/main" id="{89B9DC0D-4202-5E29-CBD2-CA7E783A934D}"/>
              </a:ext>
            </a:extLst>
          </p:cNvPr>
          <p:cNvSpPr txBox="1">
            <a:spLocks/>
          </p:cNvSpPr>
          <p:nvPr/>
        </p:nvSpPr>
        <p:spPr>
          <a:xfrm>
            <a:off x="955439" y="484632"/>
            <a:ext cx="10515600" cy="125129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200" b="1" cap="none" dirty="0">
                <a:solidFill>
                  <a:srgbClr val="FF0000"/>
                </a:solidFill>
                <a:latin typeface="Times New Roman" panose="02020603050405020304" pitchFamily="18" charset="0"/>
                <a:cs typeface="Times New Roman" panose="02020603050405020304" pitchFamily="18" charset="0"/>
              </a:rPr>
              <a:t>           </a:t>
            </a:r>
            <a:r>
              <a:rPr lang="en-US" sz="3200" b="1" cap="none"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4400" b="1" cap="none" dirty="0">
                <a:solidFill>
                  <a:schemeClr val="tx1">
                    <a:lumMod val="95000"/>
                    <a:lumOff val="5000"/>
                  </a:schemeClr>
                </a:solidFill>
                <a:latin typeface="Times New Roman" panose="02020603050405020304" pitchFamily="18" charset="0"/>
                <a:cs typeface="Times New Roman" panose="02020603050405020304" pitchFamily="18" charset="0"/>
              </a:rPr>
              <a:t>C BYREGOWDA INSTITUTE OF TECHNOLOGY</a:t>
            </a:r>
            <a:br>
              <a:rPr lang="en-US" sz="4400" b="1" cap="none" dirty="0">
                <a:solidFill>
                  <a:srgbClr val="FF0000"/>
                </a:solidFill>
                <a:latin typeface="Times New Roman" panose="02020603050405020304" pitchFamily="18" charset="0"/>
                <a:cs typeface="Times New Roman" panose="02020603050405020304" pitchFamily="18" charset="0"/>
              </a:rPr>
            </a:br>
            <a:r>
              <a:rPr lang="en-US" sz="4400" b="1" cap="none" dirty="0">
                <a:solidFill>
                  <a:srgbClr val="FF0000"/>
                </a:solidFill>
                <a:latin typeface="Times New Roman" panose="02020603050405020304" pitchFamily="18" charset="0"/>
                <a:cs typeface="Times New Roman" panose="02020603050405020304" pitchFamily="18" charset="0"/>
              </a:rPr>
              <a:t>          </a:t>
            </a:r>
            <a:r>
              <a:rPr lang="en-US" sz="3200" b="1" cap="none" dirty="0">
                <a:solidFill>
                  <a:schemeClr val="tx1">
                    <a:lumMod val="95000"/>
                    <a:lumOff val="5000"/>
                  </a:schemeClr>
                </a:solidFill>
                <a:latin typeface="Times New Roman" panose="02020603050405020304" pitchFamily="18" charset="0"/>
                <a:cs typeface="Times New Roman" panose="02020603050405020304" pitchFamily="18" charset="0"/>
              </a:rPr>
              <a:t>DEPARTMENT OF COMPUTER SCIENCE AND ENGINEERING</a:t>
            </a:r>
            <a:br>
              <a:rPr lang="en-US" sz="3200" b="1" cap="none" dirty="0">
                <a:solidFill>
                  <a:srgbClr val="0070C0"/>
                </a:solidFill>
                <a:latin typeface="Times New Roman" panose="02020603050405020304" pitchFamily="18" charset="0"/>
                <a:cs typeface="Times New Roman" panose="02020603050405020304" pitchFamily="18" charset="0"/>
              </a:rPr>
            </a:br>
            <a:r>
              <a:rPr lang="en-US" sz="3200" b="1" cap="none" dirty="0">
                <a:solidFill>
                  <a:schemeClr val="tx1">
                    <a:lumMod val="95000"/>
                    <a:lumOff val="5000"/>
                  </a:schemeClr>
                </a:solidFill>
                <a:latin typeface="Times New Roman" panose="02020603050405020304" pitchFamily="18" charset="0"/>
                <a:cs typeface="Times New Roman" panose="02020603050405020304" pitchFamily="18" charset="0"/>
              </a:rPr>
              <a:t>KOLAR - 563101</a:t>
            </a:r>
            <a:endParaRPr lang="en-IN" dirty="0">
              <a:solidFill>
                <a:schemeClr val="tx1">
                  <a:lumMod val="95000"/>
                  <a:lumOff val="5000"/>
                </a:schemeClr>
              </a:solidFill>
            </a:endParaRPr>
          </a:p>
        </p:txBody>
      </p:sp>
      <p:pic>
        <p:nvPicPr>
          <p:cNvPr id="12" name="Picture 11">
            <a:extLst>
              <a:ext uri="{FF2B5EF4-FFF2-40B4-BE49-F238E27FC236}">
                <a16:creationId xmlns:a16="http://schemas.microsoft.com/office/drawing/2014/main" id="{55382E49-29D6-5232-082A-74F66E4586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439" y="589390"/>
            <a:ext cx="1216742" cy="1325564"/>
          </a:xfrm>
          <a:prstGeom prst="rect">
            <a:avLst/>
          </a:prstGeom>
        </p:spPr>
      </p:pic>
      <p:sp>
        <p:nvSpPr>
          <p:cNvPr id="13" name="Content Placeholder 2">
            <a:extLst>
              <a:ext uri="{FF2B5EF4-FFF2-40B4-BE49-F238E27FC236}">
                <a16:creationId xmlns:a16="http://schemas.microsoft.com/office/drawing/2014/main" id="{E1F8C088-6BBA-75DB-4674-E940EE82CBC7}"/>
              </a:ext>
            </a:extLst>
          </p:cNvPr>
          <p:cNvSpPr txBox="1">
            <a:spLocks/>
          </p:cNvSpPr>
          <p:nvPr/>
        </p:nvSpPr>
        <p:spPr>
          <a:xfrm>
            <a:off x="864705" y="2196547"/>
            <a:ext cx="10675908" cy="3269797"/>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Bef>
                <a:spcPts val="1000"/>
              </a:spcBef>
              <a:buClrTx/>
              <a:buSzTx/>
              <a:buFont typeface="Arial" panose="020B0604020202020204" pitchFamily="34" charset="0"/>
              <a:buNone/>
              <a:defRPr/>
            </a:pPr>
            <a:r>
              <a:rPr lang="en-US" b="1" dirty="0">
                <a:solidFill>
                  <a:prstClr val="black"/>
                </a:solidFill>
                <a:latin typeface="Times New Roman" panose="02020603050405020304" pitchFamily="18" charset="0"/>
                <a:cs typeface="Times New Roman" panose="02020603050405020304" pitchFamily="18" charset="0"/>
              </a:rPr>
              <a:t>                             </a:t>
            </a:r>
            <a:r>
              <a:rPr lang="en-US" b="1" dirty="0">
                <a:solidFill>
                  <a:srgbClr val="ED7D31">
                    <a:lumMod val="75000"/>
                  </a:srgbClr>
                </a:solidFill>
                <a:latin typeface="Times New Roman" panose="02020603050405020304" pitchFamily="18" charset="0"/>
                <a:cs typeface="Times New Roman" panose="02020603050405020304" pitchFamily="18" charset="0"/>
              </a:rPr>
              <a:t>MINI PROJECT PRESENTATION ON  VIRTUAL MOUSE</a:t>
            </a:r>
          </a:p>
          <a:p>
            <a:pPr marL="0" indent="0" algn="ctr">
              <a:spcBef>
                <a:spcPts val="1000"/>
              </a:spcBef>
              <a:buClrTx/>
              <a:buSzTx/>
              <a:buFont typeface="Arial" panose="020B0604020202020204" pitchFamily="34" charset="0"/>
              <a:buNone/>
              <a:defRPr/>
            </a:pPr>
            <a:r>
              <a:rPr lang="en-US" sz="1800" b="1" dirty="0">
                <a:solidFill>
                  <a:srgbClr val="7030A0"/>
                </a:solidFill>
                <a:latin typeface="Times New Roman" panose="02020603050405020304" pitchFamily="18" charset="0"/>
                <a:cs typeface="Times New Roman" panose="02020603050405020304" pitchFamily="18" charset="0"/>
              </a:rPr>
              <a:t>TOPIC : “ GESTURE CONTROLLED VIRTUAL MOUSE  ’’</a:t>
            </a:r>
          </a:p>
          <a:p>
            <a:pPr marL="0" indent="0" algn="ctr">
              <a:spcBef>
                <a:spcPts val="1000"/>
              </a:spcBef>
              <a:buClrTx/>
              <a:buSzTx/>
              <a:buFont typeface="Arial" panose="020B0604020202020204" pitchFamily="34" charset="0"/>
              <a:buNone/>
              <a:defRPr/>
            </a:pPr>
            <a:endParaRPr lang="en-US" sz="1800" b="1" dirty="0">
              <a:solidFill>
                <a:srgbClr val="7030A0"/>
              </a:solidFill>
              <a:latin typeface="Times New Roman" panose="02020603050405020304" pitchFamily="18" charset="0"/>
              <a:cs typeface="Times New Roman" panose="02020603050405020304" pitchFamily="18" charset="0"/>
            </a:endParaRPr>
          </a:p>
          <a:p>
            <a:pPr marL="0" indent="0" algn="ctr">
              <a:spcBef>
                <a:spcPts val="1000"/>
              </a:spcBef>
              <a:buClrTx/>
              <a:buSzTx/>
              <a:buFont typeface="Arial" panose="020B0604020202020204" pitchFamily="34" charset="0"/>
              <a:buNone/>
              <a:defRPr/>
            </a:pPr>
            <a:endParaRPr lang="en-US" sz="1800" b="1" dirty="0">
              <a:solidFill>
                <a:srgbClr val="7030A0"/>
              </a:solidFill>
              <a:latin typeface="Times New Roman" panose="02020603050405020304" pitchFamily="18" charset="0"/>
              <a:cs typeface="Times New Roman" panose="02020603050405020304" pitchFamily="18" charset="0"/>
            </a:endParaRPr>
          </a:p>
          <a:p>
            <a:pPr marL="0" indent="0">
              <a:spcBef>
                <a:spcPts val="1000"/>
              </a:spcBef>
              <a:buClrTx/>
              <a:buSzTx/>
              <a:buFont typeface="Arial" panose="020B0604020202020204" pitchFamily="34" charset="0"/>
              <a:buNone/>
              <a:defRPr/>
            </a:pPr>
            <a:r>
              <a:rPr lang="en-US" sz="1800" b="1" dirty="0">
                <a:solidFill>
                  <a:srgbClr val="70AD47">
                    <a:lumMod val="75000"/>
                  </a:srgbClr>
                </a:solidFill>
                <a:latin typeface="Times New Roman" panose="02020603050405020304" pitchFamily="18" charset="0"/>
                <a:cs typeface="Times New Roman" panose="02020603050405020304" pitchFamily="18" charset="0"/>
              </a:rPr>
              <a:t>                </a:t>
            </a:r>
            <a:r>
              <a:rPr lang="en-US" sz="1800" b="1" dirty="0">
                <a:solidFill>
                  <a:srgbClr val="FF0000"/>
                </a:solidFill>
                <a:latin typeface="Times New Roman" panose="02020603050405020304" pitchFamily="18" charset="0"/>
                <a:cs typeface="Times New Roman" panose="02020603050405020304" pitchFamily="18" charset="0"/>
              </a:rPr>
              <a:t>PRESENTED BY :                                                                     UNDER THE GUDIENCE  OF :</a:t>
            </a:r>
          </a:p>
          <a:p>
            <a:pPr marL="0" indent="0">
              <a:buClrTx/>
              <a:buSzTx/>
              <a:buFont typeface="Wingdings" pitchFamily="2" charset="2"/>
              <a:buNone/>
              <a:defRPr/>
            </a:pPr>
            <a:r>
              <a:rPr lang="en-US" sz="1800" b="1" dirty="0">
                <a:solidFill>
                  <a:srgbClr val="FFC000">
                    <a:lumMod val="50000"/>
                  </a:srgbClr>
                </a:solidFill>
                <a:latin typeface="Times New Roman" panose="02020603050405020304" pitchFamily="18" charset="0"/>
                <a:cs typeface="Times New Roman" panose="02020603050405020304" pitchFamily="18" charset="0"/>
              </a:rPr>
              <a:t>                </a:t>
            </a:r>
            <a:r>
              <a:rPr lang="en-US" sz="1800" b="1" dirty="0">
                <a:solidFill>
                  <a:prstClr val="black"/>
                </a:solidFill>
                <a:latin typeface="Times New Roman" panose="02020603050405020304" pitchFamily="18" charset="0"/>
                <a:cs typeface="Times New Roman" panose="02020603050405020304" pitchFamily="18" charset="0"/>
              </a:rPr>
              <a:t>CHANDU SR – 1CK23CS030                                                   ASST. PROF .SWATHI J K</a:t>
            </a:r>
          </a:p>
          <a:p>
            <a:pPr marL="0" indent="0">
              <a:spcBef>
                <a:spcPts val="1000"/>
              </a:spcBef>
              <a:buClrTx/>
              <a:buSzTx/>
              <a:buFont typeface="Arial" panose="020B0604020202020204" pitchFamily="34" charset="0"/>
              <a:buNone/>
              <a:defRPr/>
            </a:pPr>
            <a:r>
              <a:rPr lang="en-US" sz="1800" b="1" dirty="0">
                <a:solidFill>
                  <a:prstClr val="black"/>
                </a:solidFill>
                <a:latin typeface="Times New Roman" panose="02020603050405020304" pitchFamily="18" charset="0"/>
                <a:cs typeface="Times New Roman" panose="02020603050405020304" pitchFamily="18" charset="0"/>
              </a:rPr>
              <a:t>                FAIZUNNISA – 1CK23CS039                                                  DEPT OF CSE , CBIT -KOLAR</a:t>
            </a:r>
          </a:p>
          <a:p>
            <a:pPr marL="0" indent="0">
              <a:buClrTx/>
              <a:buSzTx/>
              <a:buFont typeface="Wingdings" pitchFamily="2" charset="2"/>
              <a:buNone/>
              <a:defRPr/>
            </a:pPr>
            <a:r>
              <a:rPr lang="en-US" sz="1800" b="1" dirty="0">
                <a:solidFill>
                  <a:prstClr val="black"/>
                </a:solidFill>
                <a:latin typeface="Times New Roman" panose="02020603050405020304" pitchFamily="18" charset="0"/>
                <a:cs typeface="Times New Roman" panose="02020603050405020304" pitchFamily="18" charset="0"/>
              </a:rPr>
              <a:t>                HARSHA SK – 1CK23CS049</a:t>
            </a:r>
          </a:p>
          <a:p>
            <a:pPr marL="0" indent="0">
              <a:spcBef>
                <a:spcPts val="1000"/>
              </a:spcBef>
              <a:buClrTx/>
              <a:buSzTx/>
              <a:buFont typeface="Arial" panose="020B0604020202020204" pitchFamily="34" charset="0"/>
              <a:buNone/>
              <a:defRPr/>
            </a:pPr>
            <a:r>
              <a:rPr lang="en-IN" sz="1800" b="1" dirty="0">
                <a:solidFill>
                  <a:prstClr val="black"/>
                </a:solidFill>
                <a:latin typeface="Times New Roman" panose="02020603050405020304" pitchFamily="18" charset="0"/>
                <a:cs typeface="Times New Roman" panose="02020603050405020304" pitchFamily="18" charset="0"/>
              </a:rPr>
              <a:t>                HESHA P – 1CK23CS054</a:t>
            </a:r>
            <a:endParaRPr lang="en-IN" dirty="0"/>
          </a:p>
        </p:txBody>
      </p:sp>
    </p:spTree>
    <p:extLst>
      <p:ext uri="{BB962C8B-B14F-4D97-AF65-F5344CB8AC3E}">
        <p14:creationId xmlns:p14="http://schemas.microsoft.com/office/powerpoint/2010/main" val="1129051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4A9B-C3A3-3F3A-8BF1-C19B26C2A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FDDE1-DA6A-A3F1-550E-6E8CC3F3FAE5}"/>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0C7E132A-7FBC-94A0-0496-A42592F53BD5}"/>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6FC9D6C2-6781-A713-9DDB-378DA8CC8F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7" name="TextBox 6">
            <a:extLst>
              <a:ext uri="{FF2B5EF4-FFF2-40B4-BE49-F238E27FC236}">
                <a16:creationId xmlns:a16="http://schemas.microsoft.com/office/drawing/2014/main" id="{E0469FD8-FC07-F44E-5D7C-43FA763EF6F1}"/>
              </a:ext>
            </a:extLst>
          </p:cNvPr>
          <p:cNvSpPr txBox="1"/>
          <p:nvPr/>
        </p:nvSpPr>
        <p:spPr>
          <a:xfrm>
            <a:off x="4368650" y="1142193"/>
            <a:ext cx="6094268" cy="707886"/>
          </a:xfrm>
          <a:prstGeom prst="rect">
            <a:avLst/>
          </a:prstGeom>
          <a:noFill/>
        </p:spPr>
        <p:txBody>
          <a:bodyPr wrap="square">
            <a:spAutoFit/>
          </a:bodyPr>
          <a:lstStyle/>
          <a:p>
            <a:r>
              <a:rPr lang="en-US" sz="4000" b="1" dirty="0">
                <a:solidFill>
                  <a:srgbClr val="7030A0"/>
                </a:solidFill>
                <a:latin typeface="Times New Roman" panose="02020603050405020304" pitchFamily="18" charset="0"/>
                <a:cs typeface="Times New Roman" panose="02020603050405020304" pitchFamily="18" charset="0"/>
              </a:rPr>
              <a:t>AGENDA :</a:t>
            </a:r>
            <a:endParaRPr lang="en-IN" sz="4000" dirty="0"/>
          </a:p>
        </p:txBody>
      </p:sp>
      <p:sp>
        <p:nvSpPr>
          <p:cNvPr id="8" name="Content Placeholder 4">
            <a:extLst>
              <a:ext uri="{FF2B5EF4-FFF2-40B4-BE49-F238E27FC236}">
                <a16:creationId xmlns:a16="http://schemas.microsoft.com/office/drawing/2014/main" id="{2B93B66C-FC9A-5F45-BD3A-6BCD41192548}"/>
              </a:ext>
            </a:extLst>
          </p:cNvPr>
          <p:cNvSpPr txBox="1">
            <a:spLocks/>
          </p:cNvSpPr>
          <p:nvPr/>
        </p:nvSpPr>
        <p:spPr>
          <a:xfrm>
            <a:off x="1345901" y="2353170"/>
            <a:ext cx="10058400" cy="405079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buFont typeface="Wingdings" pitchFamily="2" charset="2"/>
              <a:buChar char="Ø"/>
            </a:pPr>
            <a:r>
              <a:rPr lang="en-US" dirty="0"/>
              <a:t> </a:t>
            </a:r>
            <a:r>
              <a:rPr lang="en-US" dirty="0">
                <a:latin typeface="Times New Roman" panose="02020603050405020304" pitchFamily="18" charset="0"/>
                <a:cs typeface="Times New Roman" panose="02020603050405020304" pitchFamily="18" charset="0"/>
              </a:rPr>
              <a:t> INTRODUCTION</a:t>
            </a:r>
          </a:p>
          <a:p>
            <a:pPr>
              <a:buFont typeface="Wingdings" pitchFamily="2" charset="2"/>
              <a:buChar char="Ø"/>
            </a:pPr>
            <a:r>
              <a:rPr lang="en-US" dirty="0">
                <a:latin typeface="Times New Roman" panose="02020603050405020304" pitchFamily="18" charset="0"/>
                <a:cs typeface="Times New Roman" panose="02020603050405020304" pitchFamily="18" charset="0"/>
              </a:rPr>
              <a:t> LITERATURE SURVEY</a:t>
            </a:r>
          </a:p>
          <a:p>
            <a:pPr>
              <a:buFont typeface="Wingdings" pitchFamily="2" charset="2"/>
              <a:buChar char="Ø"/>
            </a:pPr>
            <a:r>
              <a:rPr lang="en-US" dirty="0">
                <a:latin typeface="Times New Roman" panose="02020603050405020304" pitchFamily="18" charset="0"/>
                <a:cs typeface="Times New Roman" panose="02020603050405020304" pitchFamily="18" charset="0"/>
              </a:rPr>
              <a:t> SYSTEM REQUIREMENTS</a:t>
            </a:r>
          </a:p>
          <a:p>
            <a:pPr>
              <a:buFont typeface="Wingdings" pitchFamily="2" charset="2"/>
              <a:buChar char="Ø"/>
            </a:pPr>
            <a:r>
              <a:rPr lang="en-US" dirty="0">
                <a:latin typeface="Times New Roman" panose="02020603050405020304" pitchFamily="18" charset="0"/>
                <a:cs typeface="Times New Roman" panose="02020603050405020304" pitchFamily="18" charset="0"/>
              </a:rPr>
              <a:t> SYSTEM DESIGN</a:t>
            </a:r>
          </a:p>
          <a:p>
            <a:pPr>
              <a:buFont typeface="Wingdings" pitchFamily="2" charset="2"/>
              <a:buChar char="Ø"/>
            </a:pPr>
            <a:r>
              <a:rPr lang="en-US" dirty="0">
                <a:latin typeface="Times New Roman" panose="02020603050405020304" pitchFamily="18" charset="0"/>
                <a:cs typeface="Times New Roman" panose="02020603050405020304" pitchFamily="18" charset="0"/>
              </a:rPr>
              <a:t> IMPLEMENTATION</a:t>
            </a:r>
          </a:p>
          <a:p>
            <a:pPr>
              <a:buFont typeface="Wingdings" pitchFamily="2" charset="2"/>
              <a:buChar char="Ø"/>
            </a:pPr>
            <a:r>
              <a:rPr lang="en-US" dirty="0">
                <a:latin typeface="Times New Roman" panose="02020603050405020304" pitchFamily="18" charset="0"/>
                <a:cs typeface="Times New Roman" panose="02020603050405020304" pitchFamily="18" charset="0"/>
              </a:rPr>
              <a:t> PERFORMANCE ANALYSIS</a:t>
            </a:r>
          </a:p>
          <a:p>
            <a:pPr>
              <a:buFont typeface="Wingdings" pitchFamily="2" charset="2"/>
              <a:buChar char="Ø"/>
            </a:pPr>
            <a:r>
              <a:rPr lang="en-US" dirty="0">
                <a:latin typeface="Times New Roman" panose="02020603050405020304" pitchFamily="18" charset="0"/>
                <a:cs typeface="Times New Roman" panose="02020603050405020304" pitchFamily="18" charset="0"/>
              </a:rPr>
              <a:t> SYSTEM TESTING</a:t>
            </a:r>
          </a:p>
          <a:p>
            <a:pPr>
              <a:buFont typeface="Wingdings" pitchFamily="2" charset="2"/>
              <a:buChar char="Ø"/>
            </a:pPr>
            <a:r>
              <a:rPr lang="en-US" dirty="0">
                <a:latin typeface="Times New Roman" panose="02020603050405020304" pitchFamily="18" charset="0"/>
                <a:cs typeface="Times New Roman" panose="02020603050405020304" pitchFamily="18" charset="0"/>
              </a:rPr>
              <a:t> CONCLUSION AND FUTURE ENHANCEMENT</a:t>
            </a:r>
          </a:p>
          <a:p>
            <a:pPr>
              <a:buFont typeface="Wingdings" pitchFamily="2" charset="2"/>
              <a:buChar char="Ø"/>
            </a:pPr>
            <a:r>
              <a:rPr lang="en-US" dirty="0">
                <a:latin typeface="Times New Roman" panose="02020603050405020304" pitchFamily="18" charset="0"/>
                <a:cs typeface="Times New Roman" panose="02020603050405020304" pitchFamily="18" charset="0"/>
              </a:rPr>
              <a:t> REFERENCES</a:t>
            </a:r>
            <a:endParaRPr lang="en-IN" dirty="0"/>
          </a:p>
        </p:txBody>
      </p:sp>
    </p:spTree>
    <p:extLst>
      <p:ext uri="{BB962C8B-B14F-4D97-AF65-F5344CB8AC3E}">
        <p14:creationId xmlns:p14="http://schemas.microsoft.com/office/powerpoint/2010/main" val="147274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6061-F74E-6606-7AEE-30752BA2F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24512-907B-E894-A62B-B66EF913F354}"/>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4ADD3A69-FBB1-494B-2007-6AFE3FFFECE3}"/>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27A53EB3-6441-8B1F-595E-EBC8BF34BE4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90059D3B-921C-BF65-0A67-120B0E6308F9}"/>
              </a:ext>
            </a:extLst>
          </p:cNvPr>
          <p:cNvSpPr txBox="1">
            <a:spLocks/>
          </p:cNvSpPr>
          <p:nvPr/>
        </p:nvSpPr>
        <p:spPr>
          <a:xfrm>
            <a:off x="1088136" y="568772"/>
            <a:ext cx="9603275" cy="1049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4000" b="1" dirty="0">
                <a:solidFill>
                  <a:srgbClr val="7030A0"/>
                </a:solidFill>
                <a:latin typeface="Times New Roman" panose="02020603050405020304" pitchFamily="18" charset="0"/>
                <a:cs typeface="Times New Roman" panose="02020603050405020304" pitchFamily="18" charset="0"/>
              </a:rPr>
              <a:t>1.INTRODUCTION :</a:t>
            </a:r>
            <a:endParaRPr lang="en-IN" sz="4000" b="1"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A39DF0A-7BA2-4125-A15F-4FCB0D6967AF}"/>
              </a:ext>
            </a:extLst>
          </p:cNvPr>
          <p:cNvSpPr txBox="1">
            <a:spLocks/>
          </p:cNvSpPr>
          <p:nvPr/>
        </p:nvSpPr>
        <p:spPr>
          <a:xfrm>
            <a:off x="838200" y="1805135"/>
            <a:ext cx="10515600" cy="4093394"/>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The project </a:t>
            </a:r>
            <a:r>
              <a:rPr lang="en-US" i="1" dirty="0">
                <a:latin typeface="Times New Roman" panose="02020603050405020304" pitchFamily="18" charset="0"/>
                <a:cs typeface="Times New Roman" panose="02020603050405020304" pitchFamily="18" charset="0"/>
              </a:rPr>
              <a:t>Gesture controlled virtual mouse </a:t>
            </a:r>
            <a:r>
              <a:rPr lang="en-US" dirty="0">
                <a:latin typeface="Times New Roman" panose="02020603050405020304" pitchFamily="18" charset="0"/>
                <a:cs typeface="Times New Roman" panose="02020603050405020304" pitchFamily="18" charset="0"/>
              </a:rPr>
              <a:t>implements a virtual mouse system that lets a user control the computer’s mouse purely through hand gestures — using a webcam, rather than a physical mouse.</a:t>
            </a:r>
          </a:p>
          <a:p>
            <a:pPr algn="just"/>
            <a:r>
              <a:rPr lang="en-US" dirty="0">
                <a:latin typeface="Times New Roman" panose="02020603050405020304" pitchFamily="18" charset="0"/>
                <a:cs typeface="Times New Roman" panose="02020603050405020304" pitchFamily="18" charset="0"/>
              </a:rPr>
              <a:t> In essence, it enables touchless human–computer interaction by mapping the movements and configurations of your hand (detected by the camera) to standard mouse operations (cursor movement, clicking, etc.).</a:t>
            </a:r>
          </a:p>
          <a:p>
            <a:pPr algn="just"/>
            <a:r>
              <a:rPr lang="en-US" dirty="0">
                <a:latin typeface="Times New Roman" panose="02020603050405020304" pitchFamily="18" charset="0"/>
                <a:cs typeface="Times New Roman" panose="02020603050405020304" pitchFamily="18" charset="0"/>
              </a:rPr>
              <a:t> At its core, this project leverages computer vision and gesture recognition techniques: a video feed from a webcam is processed frame-by-frame to detect the user’s hand, identify hand landmarks (e.g. fingertips), and infer gestures such as “move cursor,” “double click,” or “screenshot”</a:t>
            </a:r>
          </a:p>
          <a:p>
            <a:pPr algn="just"/>
            <a:r>
              <a:rPr lang="en-US" dirty="0">
                <a:latin typeface="Times New Roman" panose="02020603050405020304" pitchFamily="18" charset="0"/>
                <a:cs typeface="Times New Roman" panose="02020603050405020304" pitchFamily="18" charset="0"/>
              </a:rPr>
              <a:t>Once a gesture is recognized, the system programmatically triggers the corresponding mouse action on the computer. This approach belongs to the broader field of gesture recognition + human-computer interaction (HCI). </a:t>
            </a:r>
          </a:p>
        </p:txBody>
      </p:sp>
    </p:spTree>
    <p:extLst>
      <p:ext uri="{BB962C8B-B14F-4D97-AF65-F5344CB8AC3E}">
        <p14:creationId xmlns:p14="http://schemas.microsoft.com/office/powerpoint/2010/main" val="11412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868C-7E30-621F-854E-337A2DD57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74C3E-C22E-3DCE-9B00-736083A5ED43}"/>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C6E8BF75-4316-F917-67BF-EF23F0297312}"/>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723259C0-026B-D046-7C20-3D80F7CC0F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04932"/>
            <a:ext cx="12192000" cy="7312038"/>
          </a:xfrm>
        </p:spPr>
      </p:pic>
      <p:sp>
        <p:nvSpPr>
          <p:cNvPr id="6" name="Title 1">
            <a:extLst>
              <a:ext uri="{FF2B5EF4-FFF2-40B4-BE49-F238E27FC236}">
                <a16:creationId xmlns:a16="http://schemas.microsoft.com/office/drawing/2014/main" id="{8A60D6A9-B125-3154-1752-F23F677D16D6}"/>
              </a:ext>
            </a:extLst>
          </p:cNvPr>
          <p:cNvSpPr txBox="1">
            <a:spLocks/>
          </p:cNvSpPr>
          <p:nvPr/>
        </p:nvSpPr>
        <p:spPr>
          <a:xfrm>
            <a:off x="652623" y="484632"/>
            <a:ext cx="10058400" cy="9593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sz="2800" b="1" dirty="0">
                <a:solidFill>
                  <a:schemeClr val="accent2">
                    <a:lumMod val="50000"/>
                  </a:schemeClr>
                </a:solidFill>
                <a:latin typeface="Times New Roman" panose="02020603050405020304" pitchFamily="18" charset="0"/>
                <a:cs typeface="Times New Roman" panose="02020603050405020304" pitchFamily="18" charset="0"/>
              </a:rPr>
              <a:t>  1.1 OBJECTIVES :</a:t>
            </a:r>
            <a:endParaRPr lang="en-IN" sz="28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66D84600-B9E1-FCFC-20AC-4C7FAA265C77}"/>
              </a:ext>
            </a:extLst>
          </p:cNvPr>
          <p:cNvSpPr txBox="1">
            <a:spLocks/>
          </p:cNvSpPr>
          <p:nvPr/>
        </p:nvSpPr>
        <p:spPr>
          <a:xfrm>
            <a:off x="838200" y="1253330"/>
            <a:ext cx="10515600" cy="5205343"/>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To design a virtual mouse system that uses computer vision to detect hand movements and gestures through a webcam, allowing users to control the cursor and perform actions like clicking, double click, and screenshot without any physical device..</a:t>
            </a:r>
          </a:p>
          <a:p>
            <a:pPr algn="just"/>
            <a:r>
              <a:rPr lang="en-US" dirty="0">
                <a:latin typeface="Times New Roman" panose="02020603050405020304" pitchFamily="18" charset="0"/>
                <a:cs typeface="Times New Roman" panose="02020603050405020304" pitchFamily="18" charset="0"/>
              </a:rPr>
              <a:t>To provide an easy, low-cost, and touch-free human–computer interaction method that improves accessibility, enhances user convenience, and demonstrates the practical use of real-time gesture recognition..</a:t>
            </a:r>
          </a:p>
          <a:p>
            <a:pPr marL="0" indent="0" algn="just">
              <a:buNone/>
            </a:pPr>
            <a:r>
              <a:rPr lang="en-US" b="1" dirty="0">
                <a:solidFill>
                  <a:schemeClr val="accent2">
                    <a:lumMod val="50000"/>
                  </a:schemeClr>
                </a:solidFill>
                <a:latin typeface="Times New Roman" panose="02020603050405020304" pitchFamily="18" charset="0"/>
                <a:cs typeface="Times New Roman" panose="02020603050405020304" pitchFamily="18" charset="0"/>
              </a:rPr>
              <a:t> </a:t>
            </a:r>
            <a:r>
              <a:rPr lang="en-US" sz="2800" b="1" dirty="0">
                <a:solidFill>
                  <a:schemeClr val="accent2">
                    <a:lumMod val="50000"/>
                  </a:schemeClr>
                </a:solidFill>
                <a:latin typeface="Times New Roman" panose="02020603050405020304" pitchFamily="18" charset="0"/>
                <a:cs typeface="Times New Roman" panose="02020603050405020304" pitchFamily="18" charset="0"/>
              </a:rPr>
              <a:t>1.2 SCOPE OF THE PROJECT :</a:t>
            </a:r>
            <a:endParaRPr lang="en-US" sz="2800" b="1"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Development of a virtual mouse system that uses a webcam to track hand movements and recognize gestures for performing actions such as cursor movement, left click, right click, double click, and screenshot.</a:t>
            </a:r>
          </a:p>
          <a:p>
            <a:pPr algn="just">
              <a:lnSpc>
                <a:spcPct val="100000"/>
              </a:lnSpc>
            </a:pPr>
            <a:r>
              <a:rPr lang="en-US" dirty="0">
                <a:latin typeface="Times New Roman" panose="02020603050405020304" pitchFamily="18" charset="0"/>
                <a:cs typeface="Times New Roman" panose="02020603050405020304" pitchFamily="18" charset="0"/>
              </a:rPr>
              <a:t>Creation of a touch-free interaction method that works without any external hardware (except a camera), making it suitable for general users, accessibility purposes, smart environments, and human–computer interaction research.</a:t>
            </a:r>
          </a:p>
          <a:p>
            <a:pPr algn="just">
              <a:lnSpc>
                <a:spcPct val="100000"/>
              </a:lnSpc>
            </a:pPr>
            <a:r>
              <a:rPr lang="en-US" dirty="0">
                <a:latin typeface="Times New Roman" panose="02020603050405020304" pitchFamily="18" charset="0"/>
                <a:cs typeface="Times New Roman" panose="02020603050405020304" pitchFamily="18" charset="0"/>
              </a:rPr>
              <a:t>Ensuring compatibility on standard computer systems (Windows/Linux) using commonly available libraries like OpenCV,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for easy deployment and further enhancement.</a:t>
            </a:r>
          </a:p>
          <a:p>
            <a:pPr algn="just">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08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A9CD-A125-8F48-1D9F-65B107FCB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EEFA2-ED73-1B96-B0AF-F23046DE0FB5}"/>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8F4462EF-CB27-6581-C7D0-AC6707DBFBE5}"/>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DB93F1F0-C7F2-9EFD-8E16-71223BC9FA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902"/>
            <a:ext cx="12192000" cy="7312038"/>
          </a:xfrm>
        </p:spPr>
      </p:pic>
      <p:sp>
        <p:nvSpPr>
          <p:cNvPr id="3" name="Title 1">
            <a:extLst>
              <a:ext uri="{FF2B5EF4-FFF2-40B4-BE49-F238E27FC236}">
                <a16:creationId xmlns:a16="http://schemas.microsoft.com/office/drawing/2014/main" id="{835FC572-938F-ED90-C578-B34DAF961633}"/>
              </a:ext>
            </a:extLst>
          </p:cNvPr>
          <p:cNvSpPr txBox="1">
            <a:spLocks/>
          </p:cNvSpPr>
          <p:nvPr/>
        </p:nvSpPr>
        <p:spPr>
          <a:xfrm>
            <a:off x="990600" y="517526"/>
            <a:ext cx="10515600" cy="8737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sz="2400" b="1" dirty="0">
                <a:solidFill>
                  <a:schemeClr val="accent2">
                    <a:lumMod val="50000"/>
                  </a:schemeClr>
                </a:solidFill>
                <a:latin typeface="Times New Roman" panose="02020603050405020304" pitchFamily="18" charset="0"/>
                <a:cs typeface="Times New Roman" panose="02020603050405020304" pitchFamily="18" charset="0"/>
              </a:rPr>
              <a:t>1.3 PROBLEM DEFINITION :</a:t>
            </a:r>
            <a:endParaRPr lang="en-IN" sz="2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2A46A4C-AB61-F2BC-2691-0F531462EF0A}"/>
              </a:ext>
            </a:extLst>
          </p:cNvPr>
          <p:cNvSpPr txBox="1">
            <a:spLocks/>
          </p:cNvSpPr>
          <p:nvPr/>
        </p:nvSpPr>
        <p:spPr>
          <a:xfrm>
            <a:off x="838200" y="1334687"/>
            <a:ext cx="10515600" cy="4938097"/>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Traditional mouse devices require physical contact and can be inconvenient or inaccessible for certain users, creating a need for an alternative interaction method that is hands-free and more intuitive.</a:t>
            </a:r>
          </a:p>
          <a:p>
            <a:pPr algn="just"/>
            <a:r>
              <a:rPr lang="en-US" dirty="0">
                <a:latin typeface="Times New Roman" panose="02020603050405020304" pitchFamily="18" charset="0"/>
                <a:cs typeface="Times New Roman" panose="02020603050405020304" pitchFamily="18" charset="0"/>
              </a:rPr>
              <a:t>There is a lack of low-cost systems that can accurately detect hand gestures in real time and translate them into mouse actions, making it necessary to develop a computer-vision-based solution for virtual mouse control.</a:t>
            </a:r>
          </a:p>
          <a:p>
            <a:pPr marL="0" indent="0">
              <a:lnSpc>
                <a:spcPct val="100000"/>
              </a:lnSpc>
              <a:buNone/>
            </a:pPr>
            <a:r>
              <a:rPr lang="en-IN" b="1" dirty="0">
                <a:solidFill>
                  <a:schemeClr val="accent2">
                    <a:lumMod val="50000"/>
                  </a:schemeClr>
                </a:solidFill>
                <a:latin typeface="Times New Roman" panose="02020603050405020304" pitchFamily="18" charset="0"/>
                <a:cs typeface="Times New Roman" panose="02020603050405020304" pitchFamily="18" charset="0"/>
              </a:rPr>
              <a:t> </a:t>
            </a:r>
            <a:r>
              <a:rPr lang="en-IN" sz="2400" b="1" dirty="0">
                <a:solidFill>
                  <a:schemeClr val="accent2">
                    <a:lumMod val="50000"/>
                  </a:schemeClr>
                </a:solidFill>
                <a:latin typeface="Times New Roman" panose="02020603050405020304" pitchFamily="18" charset="0"/>
                <a:cs typeface="Times New Roman" panose="02020603050405020304" pitchFamily="18" charset="0"/>
              </a:rPr>
              <a:t>1.4 PROPOSED WORK :</a:t>
            </a:r>
          </a:p>
          <a:p>
            <a:pPr algn="just"/>
            <a:r>
              <a:rPr lang="en-US" dirty="0">
                <a:latin typeface="Times New Roman" panose="02020603050405020304" pitchFamily="18" charset="0"/>
                <a:cs typeface="Times New Roman" panose="02020603050405020304" pitchFamily="18" charset="0"/>
              </a:rPr>
              <a:t>Develop a real-time virtual mouse system using a webcam and computer vision techniques to detect hand landmarks and recognize specific gestures..</a:t>
            </a:r>
          </a:p>
          <a:p>
            <a:pPr algn="just"/>
            <a:r>
              <a:rPr lang="en-US" dirty="0">
                <a:latin typeface="Times New Roman" panose="02020603050405020304" pitchFamily="18" charset="0"/>
                <a:cs typeface="Times New Roman" panose="02020603050405020304" pitchFamily="18" charset="0"/>
              </a:rPr>
              <a:t>Implement gesture-to-mouse mapping functions (cursor movement, click, screenshot) using algorithms from OpenCV,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and automation libraries to ensure smooth and accurate control..</a:t>
            </a:r>
          </a:p>
          <a:p>
            <a:pPr algn="just"/>
            <a:r>
              <a:rPr lang="en-US" dirty="0">
                <a:latin typeface="Times New Roman" panose="02020603050405020304" pitchFamily="18" charset="0"/>
                <a:cs typeface="Times New Roman" panose="02020603050405020304" pitchFamily="18" charset="0"/>
              </a:rPr>
              <a:t>Improve the gesture-recognition algorithm for better accuracy and responsiveness, and ensure smooth integration across different devices and operating systems.</a:t>
            </a:r>
          </a:p>
        </p:txBody>
      </p:sp>
    </p:spTree>
    <p:extLst>
      <p:ext uri="{BB962C8B-B14F-4D97-AF65-F5344CB8AC3E}">
        <p14:creationId xmlns:p14="http://schemas.microsoft.com/office/powerpoint/2010/main" val="2513205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08649-20DA-172F-1F04-13A92B0A3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47E28-256D-4E1E-2052-AFCAFF123D38}"/>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DB2027A6-1B4C-62B4-0B6B-007E07B75B10}"/>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AE470323-1B59-1A75-5288-DC1471E8D7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7268E145-FC89-9EA9-6BBD-41EC85B9C628}"/>
              </a:ext>
            </a:extLst>
          </p:cNvPr>
          <p:cNvSpPr txBox="1">
            <a:spLocks/>
          </p:cNvSpPr>
          <p:nvPr/>
        </p:nvSpPr>
        <p:spPr>
          <a:xfrm>
            <a:off x="990600" y="28734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7030A0"/>
                </a:solidFill>
                <a:latin typeface="Times New Roman" panose="02020603050405020304" pitchFamily="18" charset="0"/>
                <a:cs typeface="Times New Roman" panose="02020603050405020304" pitchFamily="18" charset="0"/>
              </a:rPr>
              <a:t>2.LITERATURE SURVEY :</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9B28A0B-2233-A346-EE8F-46933BB7F3B7}"/>
              </a:ext>
            </a:extLst>
          </p:cNvPr>
          <p:cNvSpPr txBox="1"/>
          <p:nvPr/>
        </p:nvSpPr>
        <p:spPr>
          <a:xfrm>
            <a:off x="3590693" y="6570659"/>
            <a:ext cx="3122341" cy="276999"/>
          </a:xfrm>
          <a:prstGeom prst="rect">
            <a:avLst/>
          </a:prstGeom>
          <a:noFill/>
        </p:spPr>
        <p:txBody>
          <a:bodyPr wrap="square" rtlCol="0">
            <a:spAutoFit/>
          </a:bodyPr>
          <a:lstStyle/>
          <a:p>
            <a:pPr algn="ctr"/>
            <a:r>
              <a:rPr lang="en-US" sz="1200" b="1" dirty="0">
                <a:solidFill>
                  <a:srgbClr val="7030A0"/>
                </a:solidFill>
                <a:latin typeface="Times New Roman" panose="02020603050405020304" pitchFamily="18" charset="0"/>
                <a:cs typeface="Times New Roman" panose="02020603050405020304" pitchFamily="18" charset="0"/>
              </a:rPr>
              <a:t>Table 2.1</a:t>
            </a:r>
            <a:endParaRPr lang="en-IN" sz="1200" b="1" dirty="0">
              <a:solidFill>
                <a:srgbClr val="7030A0"/>
              </a:solidFill>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4A2CAF79-648D-70B8-F7C3-626CED8D280B}"/>
              </a:ext>
            </a:extLst>
          </p:cNvPr>
          <p:cNvPicPr>
            <a:picLocks noChangeAspect="1"/>
          </p:cNvPicPr>
          <p:nvPr/>
        </p:nvPicPr>
        <p:blipFill>
          <a:blip r:embed="rId5"/>
          <a:stretch>
            <a:fillRect/>
          </a:stretch>
        </p:blipFill>
        <p:spPr>
          <a:xfrm>
            <a:off x="1063752" y="1362457"/>
            <a:ext cx="9703775" cy="5010911"/>
          </a:xfrm>
          <a:prstGeom prst="rect">
            <a:avLst/>
          </a:prstGeom>
        </p:spPr>
      </p:pic>
    </p:spTree>
    <p:extLst>
      <p:ext uri="{BB962C8B-B14F-4D97-AF65-F5344CB8AC3E}">
        <p14:creationId xmlns:p14="http://schemas.microsoft.com/office/powerpoint/2010/main" val="2053270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7242B-BB9C-9BC0-4151-89B045A5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5F590-B998-2402-727C-B0A73A7B34A6}"/>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56C1914C-20C7-FB80-FC9E-E4209A152E3B}"/>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BC4A8E0B-C98B-03AE-EF7C-47ED33021E5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4E62A9A4-5699-11FC-1B02-78AFF1D6D9B0}"/>
              </a:ext>
            </a:extLst>
          </p:cNvPr>
          <p:cNvSpPr txBox="1">
            <a:spLocks/>
          </p:cNvSpPr>
          <p:nvPr/>
        </p:nvSpPr>
        <p:spPr>
          <a:xfrm>
            <a:off x="990600" y="28734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7030A0"/>
                </a:solidFill>
                <a:latin typeface="Times New Roman" panose="02020603050405020304" pitchFamily="18" charset="0"/>
                <a:cs typeface="Times New Roman" panose="02020603050405020304" pitchFamily="18" charset="0"/>
              </a:rPr>
              <a:t>2.LITERATURE SURVEY :</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205AA5F-AF42-65CD-980A-065C366469F7}"/>
              </a:ext>
            </a:extLst>
          </p:cNvPr>
          <p:cNvSpPr txBox="1"/>
          <p:nvPr/>
        </p:nvSpPr>
        <p:spPr>
          <a:xfrm>
            <a:off x="4459228" y="6499409"/>
            <a:ext cx="3122341" cy="276999"/>
          </a:xfrm>
          <a:prstGeom prst="rect">
            <a:avLst/>
          </a:prstGeom>
          <a:noFill/>
        </p:spPr>
        <p:txBody>
          <a:bodyPr wrap="square" rtlCol="0">
            <a:spAutoFit/>
          </a:bodyPr>
          <a:lstStyle/>
          <a:p>
            <a:pPr algn="ctr"/>
            <a:r>
              <a:rPr lang="en-US" sz="1200" b="1" dirty="0">
                <a:solidFill>
                  <a:srgbClr val="7030A0"/>
                </a:solidFill>
                <a:latin typeface="Times New Roman" panose="02020603050405020304" pitchFamily="18" charset="0"/>
                <a:cs typeface="Times New Roman" panose="02020603050405020304" pitchFamily="18" charset="0"/>
              </a:rPr>
              <a:t>Table 2.2</a:t>
            </a:r>
            <a:endParaRPr lang="en-IN" sz="1200" b="1" dirty="0">
              <a:solidFill>
                <a:srgbClr val="7030A0"/>
              </a:solidFill>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A496CC44-5F89-7436-18CF-A99B4025E0BB}"/>
              </a:ext>
            </a:extLst>
          </p:cNvPr>
          <p:cNvPicPr>
            <a:picLocks noChangeAspect="1"/>
          </p:cNvPicPr>
          <p:nvPr/>
        </p:nvPicPr>
        <p:blipFill>
          <a:blip r:embed="rId5"/>
          <a:srcRect b="5804"/>
          <a:stretch>
            <a:fillRect/>
          </a:stretch>
        </p:blipFill>
        <p:spPr>
          <a:xfrm>
            <a:off x="922351" y="1494846"/>
            <a:ext cx="10199801" cy="5009322"/>
          </a:xfrm>
          <a:prstGeom prst="rect">
            <a:avLst/>
          </a:prstGeom>
        </p:spPr>
      </p:pic>
      <p:sp>
        <p:nvSpPr>
          <p:cNvPr id="29" name="Rectangle 28">
            <a:extLst>
              <a:ext uri="{FF2B5EF4-FFF2-40B4-BE49-F238E27FC236}">
                <a16:creationId xmlns:a16="http://schemas.microsoft.com/office/drawing/2014/main" id="{1DB66C64-3730-F193-FD62-45E5E56F9FC9}"/>
              </a:ext>
            </a:extLst>
          </p:cNvPr>
          <p:cNvSpPr/>
          <p:nvPr/>
        </p:nvSpPr>
        <p:spPr>
          <a:xfrm>
            <a:off x="10380841" y="6272784"/>
            <a:ext cx="850823" cy="276999"/>
          </a:xfrm>
          <a:prstGeom prst="rect">
            <a:avLst/>
          </a:prstGeom>
          <a:noFill/>
        </p:spPr>
        <p:txBody>
          <a:bodyPr wrap="square" lIns="91440" tIns="45720" rIns="91440" bIns="45720">
            <a:spAutoFit/>
          </a:bodyPr>
          <a:lstStyle/>
          <a:p>
            <a:pPr algn="ctr"/>
            <a:r>
              <a:rPr lang="en-US" sz="1200" dirty="0">
                <a:ln w="0"/>
                <a:solidFill>
                  <a:schemeClr val="tx1">
                    <a:lumMod val="75000"/>
                    <a:lumOff val="25000"/>
                  </a:schemeClr>
                </a:solidFill>
                <a:effectLst>
                  <a:outerShdw blurRad="38100" dist="19050" dir="2700000" algn="tl" rotWithShape="0">
                    <a:schemeClr val="dk1">
                      <a:alpha val="40000"/>
                    </a:schemeClr>
                  </a:outerShdw>
                </a:effectLst>
                <a:latin typeface="Aptos Display" panose="020B0004020202020204" pitchFamily="34" charset="0"/>
              </a:rPr>
              <a:t>(</a:t>
            </a:r>
            <a:r>
              <a:rPr lang="en-US" sz="1200" dirty="0">
                <a:ln w="0"/>
                <a:solidFill>
                  <a:schemeClr val="tx1">
                    <a:lumMod val="75000"/>
                    <a:lumOff val="25000"/>
                  </a:schemeClr>
                </a:solidFill>
                <a:effectLst>
                  <a:outerShdw blurRad="38100" dist="19050" dir="2700000" algn="tl" rotWithShape="0">
                    <a:schemeClr val="dk1">
                      <a:alpha val="40000"/>
                    </a:schemeClr>
                  </a:outerShdw>
                </a:effectLst>
                <a:latin typeface="Arial Rounded MT Bold" panose="020F0704030504030204" pitchFamily="34" charset="0"/>
              </a:rPr>
              <a:t>2025</a:t>
            </a:r>
            <a:r>
              <a:rPr lang="en-US" sz="1200" dirty="0">
                <a:ln w="0"/>
                <a:solidFill>
                  <a:schemeClr val="tx1">
                    <a:lumMod val="75000"/>
                    <a:lumOff val="25000"/>
                  </a:schemeClr>
                </a:solidFill>
                <a:effectLst>
                  <a:outerShdw blurRad="38100" dist="19050" dir="2700000" algn="tl" rotWithShape="0">
                    <a:schemeClr val="dk1">
                      <a:alpha val="40000"/>
                    </a:schemeClr>
                  </a:outerShdw>
                </a:effectLst>
                <a:latin typeface="Aptos Display" panose="020B0004020202020204" pitchFamily="34" charset="0"/>
              </a:rPr>
              <a:t>)</a:t>
            </a:r>
            <a:endParaRPr lang="en-US" sz="1200" b="0" cap="none" spc="0" dirty="0">
              <a:ln w="0"/>
              <a:solidFill>
                <a:schemeClr val="tx1">
                  <a:lumMod val="75000"/>
                  <a:lumOff val="25000"/>
                </a:schemeClr>
              </a:solidFill>
              <a:effectLst>
                <a:outerShdw blurRad="38100" dist="19050" dir="2700000" algn="tl" rotWithShape="0">
                  <a:schemeClr val="dk1">
                    <a:alpha val="40000"/>
                  </a:schemeClr>
                </a:outerShdw>
              </a:effectLst>
              <a:latin typeface="Aptos Display" panose="020B0004020202020204" pitchFamily="34" charset="0"/>
            </a:endParaRPr>
          </a:p>
        </p:txBody>
      </p:sp>
    </p:spTree>
    <p:extLst>
      <p:ext uri="{BB962C8B-B14F-4D97-AF65-F5344CB8AC3E}">
        <p14:creationId xmlns:p14="http://schemas.microsoft.com/office/powerpoint/2010/main" val="1210607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055E5-79C0-C50A-2250-905DB8449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994F1-8824-F80D-D7C6-CBB0E5A92F40}"/>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E3F10AD5-D44B-F735-9F36-4D0303C31367}"/>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4DE6AB15-390C-4EAC-2185-5EAB50F47E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A51E5C43-C6BF-5F5E-01D2-99906B531C35}"/>
              </a:ext>
            </a:extLst>
          </p:cNvPr>
          <p:cNvSpPr txBox="1">
            <a:spLocks/>
          </p:cNvSpPr>
          <p:nvPr/>
        </p:nvSpPr>
        <p:spPr>
          <a:xfrm>
            <a:off x="1088136" y="220091"/>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7030A0"/>
                </a:solidFill>
                <a:latin typeface="Times New Roman" panose="02020603050405020304" pitchFamily="18" charset="0"/>
                <a:cs typeface="Times New Roman" panose="02020603050405020304" pitchFamily="18" charset="0"/>
              </a:rPr>
              <a:t>3.SYSTEM</a:t>
            </a:r>
            <a:r>
              <a:rPr lang="en-US" sz="3600" b="1" dirty="0">
                <a:solidFill>
                  <a:srgbClr val="00206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REQUIREMENTS</a:t>
            </a:r>
            <a:r>
              <a:rPr lang="en-US" sz="3600" b="1" dirty="0">
                <a:solidFill>
                  <a:srgbClr val="002060"/>
                </a:solidFill>
                <a:latin typeface="Times New Roman" panose="02020603050405020304" pitchFamily="18" charset="0"/>
                <a:cs typeface="Times New Roman" panose="02020603050405020304" pitchFamily="18" charset="0"/>
              </a:rPr>
              <a:t> :</a:t>
            </a:r>
            <a:endParaRPr lang="en-IN" sz="3600" b="1"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D6284EB-7D02-5D6D-340F-FA6297C0D594}"/>
              </a:ext>
            </a:extLst>
          </p:cNvPr>
          <p:cNvSpPr txBox="1">
            <a:spLocks/>
          </p:cNvSpPr>
          <p:nvPr/>
        </p:nvSpPr>
        <p:spPr>
          <a:xfrm>
            <a:off x="990600" y="1315844"/>
            <a:ext cx="10515600" cy="464972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lvl="1" indent="0" algn="just">
              <a:buNone/>
            </a:pPr>
            <a:r>
              <a:rPr lang="en-US" sz="2000" dirty="0">
                <a:latin typeface="Times New Roman" panose="02020603050405020304" pitchFamily="18" charset="0"/>
                <a:cs typeface="Times New Roman" panose="02020603050405020304" pitchFamily="18" charset="0"/>
              </a:rPr>
              <a:t>🖥 Software Requirements:	</a:t>
            </a:r>
          </a:p>
          <a:p>
            <a:pPr lvl="1" indent="0" algn="just">
              <a:buNone/>
            </a:pPr>
            <a:r>
              <a:rPr lang="en-US" sz="2000" dirty="0">
                <a:latin typeface="Times New Roman" panose="02020603050405020304" pitchFamily="18" charset="0"/>
                <a:cs typeface="Times New Roman" panose="02020603050405020304" pitchFamily="18" charset="0"/>
              </a:rPr>
              <a:t>•	Operating System: Windows XP / 7 / 8 / 10	</a:t>
            </a:r>
          </a:p>
          <a:p>
            <a:pPr lvl="1" indent="0" algn="just">
              <a:buNone/>
            </a:pPr>
            <a:r>
              <a:rPr lang="en-US" sz="2000" dirty="0">
                <a:latin typeface="Times New Roman" panose="02020603050405020304" pitchFamily="18" charset="0"/>
                <a:cs typeface="Times New Roman" panose="02020603050405020304" pitchFamily="18" charset="0"/>
              </a:rPr>
              <a:t>•	Coding Language: Python</a:t>
            </a:r>
          </a:p>
          <a:p>
            <a:pPr lvl="1" indent="0" algn="just">
              <a:buNone/>
            </a:pPr>
            <a:r>
              <a:rPr lang="en-US" sz="2000" dirty="0">
                <a:latin typeface="Times New Roman" panose="02020603050405020304" pitchFamily="18" charset="0"/>
                <a:cs typeface="Times New Roman" panose="02020603050405020304" pitchFamily="18" charset="0"/>
              </a:rPr>
              <a:t>•	IDE / Tools: Visual Studio Code, Python Interpreter</a:t>
            </a:r>
          </a:p>
          <a:p>
            <a:pPr lvl="1" indent="0" algn="just">
              <a:buNone/>
            </a:pPr>
            <a:r>
              <a:rPr lang="en-US" sz="2000" dirty="0">
                <a:latin typeface="Times New Roman" panose="02020603050405020304" pitchFamily="18" charset="0"/>
                <a:cs typeface="Times New Roman" panose="02020603050405020304" pitchFamily="18" charset="0"/>
              </a:rPr>
              <a:t>⸻</a:t>
            </a:r>
          </a:p>
          <a:p>
            <a:pPr lvl="1" indent="0" algn="just">
              <a:buNone/>
            </a:pPr>
            <a:r>
              <a:rPr lang="en-US" sz="2000" dirty="0">
                <a:latin typeface="Times New Roman" panose="02020603050405020304" pitchFamily="18" charset="0"/>
                <a:cs typeface="Times New Roman" panose="02020603050405020304" pitchFamily="18" charset="0"/>
              </a:rPr>
              <a:t>💻 Hardware Requirements:	</a:t>
            </a:r>
          </a:p>
          <a:p>
            <a:pPr lvl="1" indent="0" algn="just">
              <a:buNone/>
            </a:pPr>
            <a:r>
              <a:rPr lang="en-US" sz="2000" dirty="0">
                <a:latin typeface="Times New Roman" panose="02020603050405020304" pitchFamily="18" charset="0"/>
                <a:cs typeface="Times New Roman" panose="02020603050405020304" pitchFamily="18" charset="0"/>
              </a:rPr>
              <a:t>•	Processor: Intel i3 (minimum) or higher	</a:t>
            </a:r>
          </a:p>
          <a:p>
            <a:pPr lvl="1" indent="0" algn="just">
              <a:buNone/>
            </a:pPr>
            <a:r>
              <a:rPr lang="en-US" sz="2000" dirty="0">
                <a:latin typeface="Times New Roman" panose="02020603050405020304" pitchFamily="18" charset="0"/>
                <a:cs typeface="Times New Roman" panose="02020603050405020304" pitchFamily="18" charset="0"/>
              </a:rPr>
              <a:t>•	Hard Disk: Minimum 4 GB	</a:t>
            </a:r>
          </a:p>
          <a:p>
            <a:pPr lvl="1" indent="0" algn="just">
              <a:buNone/>
            </a:pPr>
            <a:r>
              <a:rPr lang="en-US" sz="2000" dirty="0">
                <a:latin typeface="Times New Roman" panose="02020603050405020304" pitchFamily="18" charset="0"/>
                <a:cs typeface="Times New Roman" panose="02020603050405020304" pitchFamily="18" charset="0"/>
              </a:rPr>
              <a:t>•	RAM: Minimum 4 GB(8 GB recommended)	</a:t>
            </a:r>
          </a:p>
          <a:p>
            <a:pPr lvl="1" indent="0" algn="just">
              <a:buNone/>
            </a:pPr>
            <a:r>
              <a:rPr lang="en-US" sz="2000" dirty="0">
                <a:latin typeface="Times New Roman" panose="02020603050405020304" pitchFamily="18" charset="0"/>
                <a:cs typeface="Times New Roman" panose="02020603050405020304" pitchFamily="18" charset="0"/>
              </a:rPr>
              <a:t>•	Additional Device: A computer or device with a camera (e.g., webcam)</a:t>
            </a:r>
          </a:p>
          <a:p>
            <a:pPr lvl="1" indent="0" algn="just">
              <a:buNone/>
            </a:pPr>
            <a:r>
              <a:rPr lang="en-US" sz="2000" dirty="0">
                <a:latin typeface="Times New Roman" panose="02020603050405020304" pitchFamily="18" charset="0"/>
                <a:cs typeface="Times New Roman" panose="02020603050405020304" pitchFamily="18" charset="0"/>
              </a:rPr>
              <a:t>Note: Hardware requirements represent the physical resources required by the system. </a:t>
            </a:r>
          </a:p>
          <a:p>
            <a:pPr lvl="1" indent="0" algn="just">
              <a:buNone/>
            </a:pPr>
            <a:r>
              <a:rPr lang="en-US" sz="2000" dirty="0">
                <a:latin typeface="Times New Roman" panose="02020603050405020304" pitchFamily="18" charset="0"/>
                <a:cs typeface="Times New Roman" panose="02020603050405020304" pitchFamily="18" charset="0"/>
              </a:rPr>
              <a:t>These are often documented along with hardware compatibility details to ensure proper functioning.</a:t>
            </a:r>
          </a:p>
          <a:p>
            <a:pPr marL="0" indent="0" algn="just">
              <a:buFont typeface="Wingdings" pitchFamily="2" charset="2"/>
              <a:buNone/>
            </a:pPr>
            <a:endParaRPr lang="en-IN" b="1"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5920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C3CA2-F393-E245-9083-F0FF14FE5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13BAE-393F-9812-8342-D967AE39114C}"/>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0DD945F9-5B05-FC81-D5AB-1929118569EC}"/>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4409F3E9-EEEB-1F24-A412-86112FD12D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5" name="Content Placeholder 2">
            <a:extLst>
              <a:ext uri="{FF2B5EF4-FFF2-40B4-BE49-F238E27FC236}">
                <a16:creationId xmlns:a16="http://schemas.microsoft.com/office/drawing/2014/main" id="{D71ED4B7-EA2E-3226-AA61-C967355837BB}"/>
              </a:ext>
            </a:extLst>
          </p:cNvPr>
          <p:cNvSpPr txBox="1">
            <a:spLocks/>
          </p:cNvSpPr>
          <p:nvPr/>
        </p:nvSpPr>
        <p:spPr>
          <a:xfrm>
            <a:off x="990600" y="680224"/>
            <a:ext cx="10515600" cy="5508703"/>
          </a:xfrm>
          <a:prstGeom prst="rect">
            <a:avLst/>
          </a:prstGeom>
        </p:spPr>
        <p:txBody>
          <a:bodyPr vert="horz" lIns="91440" tIns="45720" rIns="91440" bIns="45720" rtlCol="0">
            <a:normAutofit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just">
              <a:buNone/>
            </a:pPr>
            <a:r>
              <a:rPr lang="en-US" sz="2400" b="1" i="1" dirty="0">
                <a:solidFill>
                  <a:srgbClr val="7030A0"/>
                </a:solidFill>
                <a:latin typeface="Times New Roman" panose="02020603050405020304" pitchFamily="18" charset="0"/>
                <a:cs typeface="Times New Roman" panose="02020603050405020304" pitchFamily="18" charset="0"/>
              </a:rPr>
              <a:t>3.1 ⚙ Functional Requirements</a:t>
            </a:r>
          </a:p>
          <a:p>
            <a:pPr marL="0" indent="0" algn="just">
              <a:buNone/>
            </a:pPr>
            <a:r>
              <a:rPr lang="en-US" dirty="0">
                <a:latin typeface="Times New Roman" panose="02020603050405020304" pitchFamily="18" charset="0"/>
                <a:cs typeface="Times New Roman" panose="02020603050405020304" pitchFamily="18" charset="0"/>
              </a:rPr>
              <a:t>1.User Interface:	</a:t>
            </a:r>
          </a:p>
          <a:p>
            <a:pPr marL="0" indent="0" algn="just">
              <a:buNone/>
            </a:pPr>
            <a:r>
              <a:rPr lang="en-US" dirty="0">
                <a:latin typeface="Times New Roman" panose="02020603050405020304" pitchFamily="18" charset="0"/>
                <a:cs typeface="Times New Roman" panose="02020603050405020304" pitchFamily="18" charset="0"/>
              </a:rPr>
              <a:t>•	The system shall provide a user-friendly interface.</a:t>
            </a:r>
          </a:p>
          <a:p>
            <a:pPr marL="0" indent="0" algn="just">
              <a:buNone/>
            </a:pPr>
            <a:r>
              <a:rPr lang="en-US" dirty="0">
                <a:latin typeface="Times New Roman" panose="02020603050405020304" pitchFamily="18" charset="0"/>
                <a:cs typeface="Times New Roman" panose="02020603050405020304" pitchFamily="18" charset="0"/>
              </a:rPr>
              <a:t>•	Tracks the user’s hand movements in 3D space using VR sensors.</a:t>
            </a:r>
          </a:p>
          <a:p>
            <a:pPr marL="0" indent="0" algn="just">
              <a:buNone/>
            </a:pPr>
            <a:r>
              <a:rPr lang="en-US" dirty="0">
                <a:latin typeface="Times New Roman" panose="02020603050405020304" pitchFamily="18" charset="0"/>
                <a:cs typeface="Times New Roman" panose="02020603050405020304" pitchFamily="18" charset="0"/>
              </a:rPr>
              <a:t>2. Gesture Recognition:	</a:t>
            </a:r>
          </a:p>
          <a:p>
            <a:pPr marL="0" indent="0" algn="just">
              <a:buNone/>
            </a:pPr>
            <a:r>
              <a:rPr lang="en-US" dirty="0">
                <a:latin typeface="Times New Roman" panose="02020603050405020304" pitchFamily="18" charset="0"/>
                <a:cs typeface="Times New Roman" panose="02020603050405020304" pitchFamily="18" charset="0"/>
              </a:rPr>
              <a:t>•	The system shall maintain a library of predefined gestures.	</a:t>
            </a:r>
          </a:p>
          <a:p>
            <a:pPr marL="0" indent="0" algn="just">
              <a:buNone/>
            </a:pPr>
            <a:r>
              <a:rPr lang="en-US" dirty="0">
                <a:latin typeface="Times New Roman" panose="02020603050405020304" pitchFamily="18" charset="0"/>
                <a:cs typeface="Times New Roman" panose="02020603050405020304" pitchFamily="18" charset="0"/>
              </a:rPr>
              <a:t>•	Each gesture corresponds to specific actions (e.g., volume control).</a:t>
            </a:r>
          </a:p>
          <a:p>
            <a:pPr marL="0" indent="0" algn="just">
              <a:buNone/>
            </a:pPr>
            <a:r>
              <a:rPr lang="en-US" dirty="0">
                <a:latin typeface="Times New Roman" panose="02020603050405020304" pitchFamily="18" charset="0"/>
                <a:cs typeface="Times New Roman" panose="02020603050405020304" pitchFamily="18" charset="0"/>
              </a:rPr>
              <a:t>3. VR Integration:</a:t>
            </a:r>
          </a:p>
          <a:p>
            <a:pPr marL="0" indent="0" algn="just">
              <a:buNone/>
            </a:pPr>
            <a:r>
              <a:rPr lang="en-US" dirty="0">
                <a:latin typeface="Times New Roman" panose="02020603050405020304" pitchFamily="18" charset="0"/>
                <a:cs typeface="Times New Roman" panose="02020603050405020304" pitchFamily="18" charset="0"/>
              </a:rPr>
              <a:t>•	The system shall integrate with VR environments.	</a:t>
            </a:r>
          </a:p>
          <a:p>
            <a:pPr marL="0" indent="0" algn="just">
              <a:buNone/>
            </a:pPr>
            <a:r>
              <a:rPr lang="en-US" dirty="0">
                <a:latin typeface="Times New Roman" panose="02020603050405020304" pitchFamily="18" charset="0"/>
                <a:cs typeface="Times New Roman" panose="02020603050405020304" pitchFamily="18" charset="0"/>
              </a:rPr>
              <a:t>•	Ensures an immersive user experience.</a:t>
            </a:r>
          </a:p>
          <a:p>
            <a:pPr marL="0" indent="0" algn="just">
              <a:buNone/>
            </a:pPr>
            <a:r>
              <a:rPr lang="en-US" dirty="0">
                <a:latin typeface="Times New Roman" panose="02020603050405020304" pitchFamily="18" charset="0"/>
                <a:cs typeface="Times New Roman" panose="02020603050405020304" pitchFamily="18" charset="0"/>
              </a:rPr>
              <a:t>4. Performance Requirements:	</a:t>
            </a:r>
          </a:p>
          <a:p>
            <a:pPr marL="0" indent="0" algn="just">
              <a:buNone/>
            </a:pPr>
            <a:r>
              <a:rPr lang="en-US" dirty="0">
                <a:latin typeface="Times New Roman" panose="02020603050405020304" pitchFamily="18" charset="0"/>
                <a:cs typeface="Times New Roman" panose="02020603050405020304" pitchFamily="18" charset="0"/>
              </a:rPr>
              <a:t>•	The system shall process gestures in real-time.</a:t>
            </a:r>
          </a:p>
          <a:p>
            <a:pPr marL="0" indent="0" algn="just">
              <a:buNone/>
            </a:pPr>
            <a:r>
              <a:rPr lang="en-US" dirty="0">
                <a:latin typeface="Times New Roman" panose="02020603050405020304" pitchFamily="18" charset="0"/>
                <a:cs typeface="Times New Roman" panose="02020603050405020304" pitchFamily="18" charset="0"/>
              </a:rPr>
              <a:t>•	Expected latency: less than 100 </a:t>
            </a:r>
            <a:r>
              <a:rPr lang="en-US" dirty="0" err="1">
                <a:latin typeface="Times New Roman" panose="02020603050405020304" pitchFamily="18" charset="0"/>
                <a:cs typeface="Times New Roman" panose="02020603050405020304" pitchFamily="18" charset="0"/>
              </a:rPr>
              <a:t>ms.</a:t>
            </a:r>
            <a:endParaRPr lang="en-US" dirty="0">
              <a:latin typeface="Times New Roman" panose="02020603050405020304" pitchFamily="18" charset="0"/>
              <a:cs typeface="Times New Roman" panose="02020603050405020304" pitchFamily="18" charset="0"/>
            </a:endParaRPr>
          </a:p>
          <a:p>
            <a:pPr marL="0" indent="0" algn="just">
              <a:buFont typeface="Wingdings" pitchFamily="2" charset="2"/>
              <a:buNone/>
            </a:pPr>
            <a:endParaRPr lang="en-IN" b="1"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8689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22A21-BD84-BD32-FAF4-CDD83993F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CC088-BED9-0902-8DF8-5428AE608E3A}"/>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CBB63B38-1EED-4765-AEDB-C786152B5268}"/>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F4B65156-1805-E3C7-43C1-20310A7D64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88CBA9E7-C54C-79DC-29F4-B6BD983F216B}"/>
              </a:ext>
            </a:extLst>
          </p:cNvPr>
          <p:cNvSpPr txBox="1">
            <a:spLocks/>
          </p:cNvSpPr>
          <p:nvPr/>
        </p:nvSpPr>
        <p:spPr>
          <a:xfrm>
            <a:off x="1066800" y="220091"/>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7030A0"/>
                </a:solidFill>
                <a:latin typeface="Times New Roman" panose="02020603050405020304" pitchFamily="18" charset="0"/>
                <a:cs typeface="Times New Roman" panose="02020603050405020304" pitchFamily="18" charset="0"/>
              </a:rPr>
              <a:t>4.SYSTEM DESIGN :</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C430E682-F655-9FC6-A7F1-D4DEF1313E49}"/>
              </a:ext>
            </a:extLst>
          </p:cNvPr>
          <p:cNvSpPr txBox="1">
            <a:spLocks/>
          </p:cNvSpPr>
          <p:nvPr/>
        </p:nvSpPr>
        <p:spPr>
          <a:xfrm>
            <a:off x="1088136" y="1630623"/>
            <a:ext cx="10058400" cy="4050792"/>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nSpc>
                <a:spcPct val="100000"/>
              </a:lnSpc>
              <a:buNone/>
            </a:pPr>
            <a:r>
              <a:rPr lang="en-US" sz="2400" b="1" dirty="0">
                <a:solidFill>
                  <a:srgbClr val="0070C0"/>
                </a:solidFill>
                <a:latin typeface="Times New Roman" panose="02020603050405020304" pitchFamily="18" charset="0"/>
                <a:cs typeface="Times New Roman" panose="02020603050405020304" pitchFamily="18" charset="0"/>
              </a:rPr>
              <a:t>4.1 INTRODUCTION : </a:t>
            </a:r>
          </a:p>
          <a:p>
            <a:pPr algn="just">
              <a:lnSpc>
                <a:spcPct val="100000"/>
              </a:lnSpc>
            </a:pPr>
            <a:r>
              <a:rPr lang="en-US" dirty="0">
                <a:latin typeface="Times New Roman" panose="02020603050405020304" pitchFamily="18" charset="0"/>
                <a:cs typeface="Times New Roman" panose="02020603050405020304" pitchFamily="18" charset="0"/>
              </a:rPr>
              <a:t>The system captures live video from a webcam and detects the user’s hand in each frame. It identifies key hand landmarks and interprets them to recognize gestures. These gestures are processed and smoothed to generate stable cursor movements. The recognized gestures are then mapped to mouse actions like clicking, and screenshot. The system ensures real-time performance and accuracy using computer-vision models and automation libraries.</a:t>
            </a:r>
          </a:p>
          <a:p>
            <a:pPr algn="just">
              <a:lnSpc>
                <a:spcPct val="100000"/>
              </a:lnSpc>
            </a:pPr>
            <a:endParaRPr lang="en-US" dirty="0">
              <a:latin typeface="Times New Roman" panose="02020603050405020304" pitchFamily="18" charset="0"/>
              <a:cs typeface="Times New Roman" panose="02020603050405020304" pitchFamily="18" charset="0"/>
            </a:endParaRPr>
          </a:p>
          <a:p>
            <a:pPr marL="0" indent="0">
              <a:lnSpc>
                <a:spcPct val="100000"/>
              </a:lnSpc>
              <a:buNone/>
            </a:pPr>
            <a:r>
              <a:rPr lang="en-US" sz="2400" b="1" dirty="0">
                <a:solidFill>
                  <a:srgbClr val="0070C0"/>
                </a:solidFill>
                <a:latin typeface="Times New Roman" panose="02020603050405020304" pitchFamily="18" charset="0"/>
                <a:cs typeface="Times New Roman" panose="02020603050405020304" pitchFamily="18" charset="0"/>
              </a:rPr>
              <a:t>4.2 SYSTEM ARCHITECTURE :  </a:t>
            </a:r>
          </a:p>
          <a:p>
            <a:pPr marL="457200" indent="-457200">
              <a:lnSpc>
                <a:spcPct val="100000"/>
              </a:lnSpc>
              <a:buFont typeface="Wingdings" pitchFamily="2" charset="2"/>
              <a:buAutoNum type="arabicPeriod"/>
            </a:pPr>
            <a:r>
              <a:rPr lang="en-US" dirty="0">
                <a:latin typeface="Times New Roman" panose="02020603050405020304" pitchFamily="18" charset="0"/>
                <a:cs typeface="Times New Roman" panose="02020603050405020304" pitchFamily="18" charset="0"/>
              </a:rPr>
              <a:t>Input : Camera or sensors for gesture capture.</a:t>
            </a:r>
          </a:p>
          <a:p>
            <a:pPr marL="457200" indent="-457200">
              <a:lnSpc>
                <a:spcPct val="100000"/>
              </a:lnSpc>
              <a:buFont typeface="Wingdings" pitchFamily="2" charset="2"/>
              <a:buAutoNum type="arabicPeriod"/>
            </a:pPr>
            <a:r>
              <a:rPr lang="en-US" dirty="0">
                <a:latin typeface="Times New Roman" panose="02020603050405020304" pitchFamily="18" charset="0"/>
                <a:cs typeface="Times New Roman" panose="02020603050405020304" pitchFamily="18" charset="0"/>
              </a:rPr>
              <a:t>Processing : Software for gesture recognition and mapping to actions. </a:t>
            </a:r>
          </a:p>
          <a:p>
            <a:pPr marL="457200" indent="-457200" algn="just">
              <a:lnSpc>
                <a:spcPct val="100000"/>
              </a:lnSpc>
              <a:buFont typeface="Wingdings" pitchFamily="2" charset="2"/>
              <a:buAutoNum type="arabicPeriod"/>
            </a:pPr>
            <a:r>
              <a:rPr lang="en-US" dirty="0">
                <a:latin typeface="Times New Roman" panose="02020603050405020304" pitchFamily="18" charset="0"/>
                <a:cs typeface="Times New Roman" panose="02020603050405020304" pitchFamily="18" charset="0"/>
              </a:rPr>
              <a:t>Output : Control interface for executing mouse commands. </a:t>
            </a:r>
          </a:p>
          <a:p>
            <a:pPr marL="457200" indent="-457200">
              <a:lnSpc>
                <a:spcPct val="100000"/>
              </a:lnSpc>
              <a:buFont typeface="Wingdings" pitchFamily="2" charset="2"/>
              <a:buAutoNum type="arabicPeriod"/>
            </a:pPr>
            <a:r>
              <a:rPr lang="en-US" dirty="0">
                <a:latin typeface="Times New Roman" panose="02020603050405020304" pitchFamily="18" charset="0"/>
                <a:cs typeface="Times New Roman" panose="02020603050405020304" pitchFamily="18" charset="0"/>
              </a:rPr>
              <a:t>Integration : OS interface for action execution.</a:t>
            </a:r>
          </a:p>
        </p:txBody>
      </p:sp>
    </p:spTree>
    <p:extLst>
      <p:ext uri="{BB962C8B-B14F-4D97-AF65-F5344CB8AC3E}">
        <p14:creationId xmlns:p14="http://schemas.microsoft.com/office/powerpoint/2010/main" val="1121612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00E7-1AE0-BE56-D344-15E38C030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F3A1B-67D1-E0F0-6A07-8C0295AEE182}"/>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46E5C97A-A87C-2661-BBB4-E2D0FB1F30A4}"/>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16D2962F-B00D-F074-AECB-CEF50188C5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EF9F1D81-7D6B-6D14-B36C-FC8DB18F7D38}"/>
              </a:ext>
            </a:extLst>
          </p:cNvPr>
          <p:cNvSpPr txBox="1">
            <a:spLocks/>
          </p:cNvSpPr>
          <p:nvPr/>
        </p:nvSpPr>
        <p:spPr>
          <a:xfrm>
            <a:off x="838200" y="3764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2800" b="1" dirty="0">
                <a:solidFill>
                  <a:srgbClr val="7030A0"/>
                </a:solidFill>
                <a:latin typeface="Times New Roman" panose="02020603050405020304" pitchFamily="18" charset="0"/>
                <a:cs typeface="Times New Roman" panose="02020603050405020304" pitchFamily="18" charset="0"/>
              </a:rPr>
              <a:t>5.FLOW CHART:</a:t>
            </a:r>
            <a:endParaRPr lang="en-IN" sz="2800" b="1" dirty="0">
              <a:solidFill>
                <a:srgbClr val="7030A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AAACE2B-9E57-0890-A0B3-FDAEA0861BC9}"/>
              </a:ext>
            </a:extLst>
          </p:cNvPr>
          <p:cNvPicPr>
            <a:picLocks noChangeAspect="1"/>
          </p:cNvPicPr>
          <p:nvPr/>
        </p:nvPicPr>
        <p:blipFill>
          <a:blip r:embed="rId4"/>
          <a:stretch>
            <a:fillRect/>
          </a:stretch>
        </p:blipFill>
        <p:spPr>
          <a:xfrm>
            <a:off x="1865026" y="1479655"/>
            <a:ext cx="8461948" cy="4352727"/>
          </a:xfrm>
          <a:prstGeom prst="rect">
            <a:avLst/>
          </a:prstGeom>
        </p:spPr>
      </p:pic>
      <p:sp>
        <p:nvSpPr>
          <p:cNvPr id="6" name="TextBox 5">
            <a:extLst>
              <a:ext uri="{FF2B5EF4-FFF2-40B4-BE49-F238E27FC236}">
                <a16:creationId xmlns:a16="http://schemas.microsoft.com/office/drawing/2014/main" id="{8B33834A-2CA2-531E-33E6-8A920D798502}"/>
              </a:ext>
            </a:extLst>
          </p:cNvPr>
          <p:cNvSpPr txBox="1"/>
          <p:nvPr/>
        </p:nvSpPr>
        <p:spPr>
          <a:xfrm>
            <a:off x="4181707" y="6055112"/>
            <a:ext cx="4527395" cy="369332"/>
          </a:xfrm>
          <a:prstGeom prst="rect">
            <a:avLst/>
          </a:prstGeom>
          <a:noFill/>
        </p:spPr>
        <p:txBody>
          <a:bodyPr wrap="square" rtlCol="0">
            <a:spAutoFit/>
          </a:bodyPr>
          <a:lstStyle/>
          <a:p>
            <a:pPr algn="ctr"/>
            <a:r>
              <a:rPr lang="en-US" b="1" dirty="0">
                <a:solidFill>
                  <a:srgbClr val="7030A0"/>
                </a:solidFill>
                <a:latin typeface="Times New Roman" panose="02020603050405020304" pitchFamily="18" charset="0"/>
                <a:cs typeface="Times New Roman" panose="02020603050405020304" pitchFamily="18" charset="0"/>
              </a:rPr>
              <a:t>Fig 5.1</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0863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35C21-8F27-F019-9729-871E20EE9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12686-735D-8A49-5B57-B83F855CB8EC}"/>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7C7AD27A-B892-CD87-2027-C61FD3296860}"/>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56AF6482-E53E-CD6A-79B3-02308B9533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5">
            <a:extLst>
              <a:ext uri="{FF2B5EF4-FFF2-40B4-BE49-F238E27FC236}">
                <a16:creationId xmlns:a16="http://schemas.microsoft.com/office/drawing/2014/main" id="{9171EFA4-FCDC-CF84-53AD-B680203BD0E5}"/>
              </a:ext>
            </a:extLst>
          </p:cNvPr>
          <p:cNvSpPr txBox="1">
            <a:spLocks/>
          </p:cNvSpPr>
          <p:nvPr/>
        </p:nvSpPr>
        <p:spPr>
          <a:xfrm>
            <a:off x="462447" y="-11422"/>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200" b="1" dirty="0">
                <a:solidFill>
                  <a:srgbClr val="7030A0"/>
                </a:solidFill>
                <a:latin typeface="Times New Roman" panose="02020603050405020304" pitchFamily="18" charset="0"/>
                <a:cs typeface="Times New Roman" panose="02020603050405020304" pitchFamily="18" charset="0"/>
              </a:rPr>
              <a:t>6.IMPLEMENTATION  :</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Text Placeholder 20">
            <a:extLst>
              <a:ext uri="{FF2B5EF4-FFF2-40B4-BE49-F238E27FC236}">
                <a16:creationId xmlns:a16="http://schemas.microsoft.com/office/drawing/2014/main" id="{DD4BA293-A08C-6E64-FBB6-F73A05847CC5}"/>
              </a:ext>
            </a:extLst>
          </p:cNvPr>
          <p:cNvSpPr txBox="1">
            <a:spLocks/>
          </p:cNvSpPr>
          <p:nvPr/>
        </p:nvSpPr>
        <p:spPr>
          <a:xfrm>
            <a:off x="938485" y="1633862"/>
            <a:ext cx="4754880" cy="640080"/>
          </a:xfrm>
          <a:prstGeom prst="rect">
            <a:avLst/>
          </a:prstGeom>
        </p:spPr>
        <p:txBody>
          <a:bodyPr vert="horz" lIns="91440" tIns="45720" rIns="91440" bIns="45720" rtlCol="0">
            <a:normAutofit fontScale="70000" lnSpcReduction="2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Module 1: Importing Libraries: Importing necessary libraries for the project.</a:t>
            </a:r>
          </a:p>
          <a:p>
            <a:endParaRPr lang="en-IN" dirty="0"/>
          </a:p>
        </p:txBody>
      </p:sp>
      <p:sp>
        <p:nvSpPr>
          <p:cNvPr id="6" name="Text Placeholder 21">
            <a:extLst>
              <a:ext uri="{FF2B5EF4-FFF2-40B4-BE49-F238E27FC236}">
                <a16:creationId xmlns:a16="http://schemas.microsoft.com/office/drawing/2014/main" id="{E113798C-6940-AA81-1FC7-6D9502B95118}"/>
              </a:ext>
            </a:extLst>
          </p:cNvPr>
          <p:cNvSpPr txBox="1">
            <a:spLocks/>
          </p:cNvSpPr>
          <p:nvPr/>
        </p:nvSpPr>
        <p:spPr>
          <a:xfrm>
            <a:off x="6192867" y="1597922"/>
            <a:ext cx="5183188" cy="823912"/>
          </a:xfrm>
          <a:prstGeom prst="rect">
            <a:avLst/>
          </a:prstGeom>
        </p:spPr>
        <p:txBody>
          <a:bodyPr>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Module 2 : Webcam Setup Setting up the webcam</a:t>
            </a:r>
          </a:p>
          <a:p>
            <a:endParaRPr lang="en-IN" dirty="0"/>
          </a:p>
        </p:txBody>
      </p:sp>
      <p:sp>
        <p:nvSpPr>
          <p:cNvPr id="8" name="Content Placeholder 6">
            <a:extLst>
              <a:ext uri="{FF2B5EF4-FFF2-40B4-BE49-F238E27FC236}">
                <a16:creationId xmlns:a16="http://schemas.microsoft.com/office/drawing/2014/main" id="{53B66450-090B-7C76-62EA-2A46C8786F56}"/>
              </a:ext>
            </a:extLst>
          </p:cNvPr>
          <p:cNvSpPr txBox="1">
            <a:spLocks/>
          </p:cNvSpPr>
          <p:nvPr/>
        </p:nvSpPr>
        <p:spPr>
          <a:xfrm>
            <a:off x="6770826" y="1443115"/>
            <a:ext cx="5693709" cy="4954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800" b="1" dirty="0">
              <a:latin typeface="Times New Roman" panose="02020603050405020304" pitchFamily="18" charset="0"/>
              <a:cs typeface="Times New Roman" panose="02020603050405020304" pitchFamily="18" charset="0"/>
            </a:endParaRPr>
          </a:p>
        </p:txBody>
      </p:sp>
      <p:pic>
        <p:nvPicPr>
          <p:cNvPr id="9" name="Picture 8" descr="A screen shot of a computer&#10;&#10;AI-generated content may be incorrect.">
            <a:extLst>
              <a:ext uri="{FF2B5EF4-FFF2-40B4-BE49-F238E27FC236}">
                <a16:creationId xmlns:a16="http://schemas.microsoft.com/office/drawing/2014/main" id="{A6E27FF7-B45C-871F-F9D2-BF9284A256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230" y="2227691"/>
            <a:ext cx="5200770" cy="3497515"/>
          </a:xfrm>
          <a:prstGeom prst="rect">
            <a:avLst/>
          </a:prstGeom>
        </p:spPr>
      </p:pic>
      <p:pic>
        <p:nvPicPr>
          <p:cNvPr id="11" name="Picture 10" descr="A screen shot of a computer&#10;&#10;AI-generated content may be incorrect.">
            <a:extLst>
              <a:ext uri="{FF2B5EF4-FFF2-40B4-BE49-F238E27FC236}">
                <a16:creationId xmlns:a16="http://schemas.microsoft.com/office/drawing/2014/main" id="{EBA1FACB-2293-FC40-2C81-FB036C5B4C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0766" y="2234859"/>
            <a:ext cx="5075289" cy="3490348"/>
          </a:xfrm>
          <a:prstGeom prst="rect">
            <a:avLst/>
          </a:prstGeom>
        </p:spPr>
      </p:pic>
      <p:sp>
        <p:nvSpPr>
          <p:cNvPr id="7" name="TextBox 6">
            <a:extLst>
              <a:ext uri="{FF2B5EF4-FFF2-40B4-BE49-F238E27FC236}">
                <a16:creationId xmlns:a16="http://schemas.microsoft.com/office/drawing/2014/main" id="{D42F04F9-F5A8-F335-11FB-ED67221E6B0D}"/>
              </a:ext>
            </a:extLst>
          </p:cNvPr>
          <p:cNvSpPr txBox="1"/>
          <p:nvPr/>
        </p:nvSpPr>
        <p:spPr>
          <a:xfrm>
            <a:off x="1643607" y="5858921"/>
            <a:ext cx="3055434" cy="369332"/>
          </a:xfrm>
          <a:prstGeom prst="rect">
            <a:avLst/>
          </a:prstGeom>
          <a:noFill/>
        </p:spPr>
        <p:txBody>
          <a:bodyPr wrap="square" rtlCol="0">
            <a:spAutoFit/>
          </a:bodyPr>
          <a:lstStyle/>
          <a:p>
            <a:pPr algn="ctr"/>
            <a:r>
              <a:rPr lang="en-US" b="1" dirty="0">
                <a:solidFill>
                  <a:srgbClr val="7030A0"/>
                </a:solidFill>
                <a:latin typeface="Times New Roman" panose="02020603050405020304" pitchFamily="18" charset="0"/>
                <a:cs typeface="Times New Roman" panose="02020603050405020304" pitchFamily="18" charset="0"/>
              </a:rPr>
              <a:t>Fig</a:t>
            </a:r>
            <a:r>
              <a:rPr lang="en-US" b="1" dirty="0">
                <a:latin typeface="Times New Roman" panose="02020603050405020304" pitchFamily="18" charset="0"/>
                <a:cs typeface="Times New Roman" panose="02020603050405020304" pitchFamily="18" charset="0"/>
              </a:rPr>
              <a:t> </a:t>
            </a:r>
            <a:r>
              <a:rPr lang="en-US" b="1" dirty="0">
                <a:solidFill>
                  <a:srgbClr val="7030A0"/>
                </a:solidFill>
                <a:latin typeface="Times New Roman" panose="02020603050405020304" pitchFamily="18" charset="0"/>
                <a:cs typeface="Times New Roman" panose="02020603050405020304" pitchFamily="18" charset="0"/>
              </a:rPr>
              <a:t>6.1</a:t>
            </a:r>
            <a:endParaRPr lang="en-IN" b="1" dirty="0">
              <a:solidFill>
                <a:srgbClr val="7030A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E82BE7A-5363-734A-6DB5-88442BC52679}"/>
              </a:ext>
            </a:extLst>
          </p:cNvPr>
          <p:cNvSpPr txBox="1"/>
          <p:nvPr/>
        </p:nvSpPr>
        <p:spPr>
          <a:xfrm>
            <a:off x="7415784" y="5876750"/>
            <a:ext cx="2352684" cy="369332"/>
          </a:xfrm>
          <a:prstGeom prst="rect">
            <a:avLst/>
          </a:prstGeom>
          <a:noFill/>
        </p:spPr>
        <p:txBody>
          <a:bodyPr wrap="square" rtlCol="0">
            <a:spAutoFit/>
          </a:bodyPr>
          <a:lstStyle/>
          <a:p>
            <a:pPr algn="ctr"/>
            <a:r>
              <a:rPr lang="en-US" b="1" dirty="0">
                <a:solidFill>
                  <a:srgbClr val="7030A0"/>
                </a:solidFill>
                <a:latin typeface="Times New Roman" panose="02020603050405020304" pitchFamily="18" charset="0"/>
                <a:cs typeface="Times New Roman" panose="02020603050405020304" pitchFamily="18" charset="0"/>
              </a:rPr>
              <a:t>Fig 6.2</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9123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A5DE6-2251-DB96-4B6E-B12670AD6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4D7DC-B67B-F83E-060F-9DC70848EFE0}"/>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7A82C79D-5DED-B579-0C03-1655F676688E}"/>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F8D4B4C7-CDBE-BC76-505D-3C5F37519D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5">
            <a:extLst>
              <a:ext uri="{FF2B5EF4-FFF2-40B4-BE49-F238E27FC236}">
                <a16:creationId xmlns:a16="http://schemas.microsoft.com/office/drawing/2014/main" id="{8A800806-0921-48B8-62E1-BE09A357F073}"/>
              </a:ext>
            </a:extLst>
          </p:cNvPr>
          <p:cNvSpPr txBox="1">
            <a:spLocks/>
          </p:cNvSpPr>
          <p:nvPr/>
        </p:nvSpPr>
        <p:spPr>
          <a:xfrm>
            <a:off x="479638" y="2910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6">
            <a:extLst>
              <a:ext uri="{FF2B5EF4-FFF2-40B4-BE49-F238E27FC236}">
                <a16:creationId xmlns:a16="http://schemas.microsoft.com/office/drawing/2014/main" id="{6ADA405B-4878-9377-6EFD-8595F64EA18C}"/>
              </a:ext>
            </a:extLst>
          </p:cNvPr>
          <p:cNvSpPr txBox="1">
            <a:spLocks/>
          </p:cNvSpPr>
          <p:nvPr/>
        </p:nvSpPr>
        <p:spPr>
          <a:xfrm>
            <a:off x="682439" y="550758"/>
            <a:ext cx="11166987" cy="484473"/>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US" sz="1800" b="1" dirty="0">
                <a:latin typeface="Times New Roman" panose="02020603050405020304" pitchFamily="18" charset="0"/>
                <a:cs typeface="Times New Roman" panose="02020603050405020304" pitchFamily="18" charset="0"/>
              </a:rPr>
              <a:t> Module 3:Hand Landmark Detection </a:t>
            </a:r>
          </a:p>
          <a:p>
            <a:pPr marL="0" indent="0">
              <a:buFont typeface="Wingdings" pitchFamily="2" charset="2"/>
              <a:buNone/>
            </a:pPr>
            <a:endParaRPr lang="en-US"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US"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p:txBody>
      </p:sp>
      <p:pic>
        <p:nvPicPr>
          <p:cNvPr id="11" name="Picture 10" descr="A screen shot of a computer">
            <a:extLst>
              <a:ext uri="{FF2B5EF4-FFF2-40B4-BE49-F238E27FC236}">
                <a16:creationId xmlns:a16="http://schemas.microsoft.com/office/drawing/2014/main" id="{7B188E9E-6CE8-2398-09FB-07F6BECB78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788" y="926224"/>
            <a:ext cx="7692405" cy="1942101"/>
          </a:xfrm>
          <a:prstGeom prst="rect">
            <a:avLst/>
          </a:prstGeom>
        </p:spPr>
      </p:pic>
      <p:pic>
        <p:nvPicPr>
          <p:cNvPr id="14" name="Picture 13" descr="A computer screen shot of a computer code&#10;&#10;AI-generated content may be incorrect.">
            <a:extLst>
              <a:ext uri="{FF2B5EF4-FFF2-40B4-BE49-F238E27FC236}">
                <a16:creationId xmlns:a16="http://schemas.microsoft.com/office/drawing/2014/main" id="{B683BBDF-B182-B1AC-A342-DFFFFA0FB0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788" y="3371663"/>
            <a:ext cx="9298983" cy="3015539"/>
          </a:xfrm>
          <a:prstGeom prst="rect">
            <a:avLst/>
          </a:prstGeom>
        </p:spPr>
      </p:pic>
      <p:sp>
        <p:nvSpPr>
          <p:cNvPr id="15" name="TextBox 14">
            <a:extLst>
              <a:ext uri="{FF2B5EF4-FFF2-40B4-BE49-F238E27FC236}">
                <a16:creationId xmlns:a16="http://schemas.microsoft.com/office/drawing/2014/main" id="{413A98BA-1D67-65FE-C515-539277DB66FC}"/>
              </a:ext>
            </a:extLst>
          </p:cNvPr>
          <p:cNvSpPr txBox="1"/>
          <p:nvPr/>
        </p:nvSpPr>
        <p:spPr>
          <a:xfrm>
            <a:off x="856788" y="3009688"/>
            <a:ext cx="7809876"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Module 4: Hand Gestures</a:t>
            </a:r>
            <a:endParaRPr lang="en-IN" b="1"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2F0611DF-DD79-046C-0261-81591C39A675}"/>
              </a:ext>
            </a:extLst>
          </p:cNvPr>
          <p:cNvSpPr txBox="1"/>
          <p:nvPr/>
        </p:nvSpPr>
        <p:spPr>
          <a:xfrm>
            <a:off x="3549433" y="2827137"/>
            <a:ext cx="1405053" cy="369332"/>
          </a:xfrm>
          <a:prstGeom prst="rect">
            <a:avLst/>
          </a:prstGeom>
          <a:noFill/>
        </p:spPr>
        <p:txBody>
          <a:bodyPr wrap="square" rtlCol="0">
            <a:spAutoFit/>
          </a:bodyPr>
          <a:lstStyle/>
          <a:p>
            <a:r>
              <a:rPr lang="en-US" b="1" dirty="0">
                <a:solidFill>
                  <a:srgbClr val="7030A0"/>
                </a:solidFill>
                <a:latin typeface="Times New Roman" panose="02020603050405020304" pitchFamily="18" charset="0"/>
                <a:cs typeface="Times New Roman" panose="02020603050405020304" pitchFamily="18" charset="0"/>
              </a:rPr>
              <a:t>Fig 6.3</a:t>
            </a:r>
            <a:endParaRPr lang="en-IN" b="1" dirty="0">
              <a:solidFill>
                <a:srgbClr val="7030A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5A6E6AE-D234-D954-72FA-E2818DBA434B}"/>
              </a:ext>
            </a:extLst>
          </p:cNvPr>
          <p:cNvSpPr txBox="1"/>
          <p:nvPr/>
        </p:nvSpPr>
        <p:spPr>
          <a:xfrm>
            <a:off x="4000463" y="6305412"/>
            <a:ext cx="1405053" cy="369332"/>
          </a:xfrm>
          <a:prstGeom prst="rect">
            <a:avLst/>
          </a:prstGeom>
          <a:noFill/>
        </p:spPr>
        <p:txBody>
          <a:bodyPr wrap="square" rtlCol="0">
            <a:spAutoFit/>
          </a:bodyPr>
          <a:lstStyle/>
          <a:p>
            <a:r>
              <a:rPr lang="en-US" b="1" dirty="0">
                <a:solidFill>
                  <a:srgbClr val="7030A0"/>
                </a:solidFill>
                <a:latin typeface="Times New Roman" panose="02020603050405020304" pitchFamily="18" charset="0"/>
                <a:cs typeface="Times New Roman" panose="02020603050405020304" pitchFamily="18" charset="0"/>
              </a:rPr>
              <a:t>Fig 6.4</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344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8CCC-BF73-F1B8-93B5-14DC5FE63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DACD9-115B-3E32-FD75-184E4A801EC4}"/>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8CA7F51E-6E74-26E6-958F-2F31482BC1C7}"/>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2C89FE08-C689-CB20-4CD7-9456538C19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5" name="Content Placeholder 6">
            <a:extLst>
              <a:ext uri="{FF2B5EF4-FFF2-40B4-BE49-F238E27FC236}">
                <a16:creationId xmlns:a16="http://schemas.microsoft.com/office/drawing/2014/main" id="{534468A0-BDB0-C5BE-0D56-8C3ED02ECED6}"/>
              </a:ext>
            </a:extLst>
          </p:cNvPr>
          <p:cNvSpPr txBox="1">
            <a:spLocks/>
          </p:cNvSpPr>
          <p:nvPr/>
        </p:nvSpPr>
        <p:spPr>
          <a:xfrm>
            <a:off x="828968" y="541493"/>
            <a:ext cx="11166987" cy="547462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Font typeface="Wingdings" pitchFamily="2" charset="2"/>
              <a:buNone/>
            </a:pPr>
            <a:r>
              <a:rPr lang="en-US" sz="1800" b="1" dirty="0">
                <a:latin typeface="Times New Roman" panose="02020603050405020304" pitchFamily="18" charset="0"/>
                <a:cs typeface="Times New Roman" panose="02020603050405020304" pitchFamily="18" charset="0"/>
              </a:rPr>
              <a:t>Module 5</a:t>
            </a:r>
            <a:r>
              <a:rPr lang="en-US" b="1" dirty="0">
                <a:latin typeface="Times New Roman" panose="02020603050405020304" pitchFamily="18" charset="0"/>
                <a:cs typeface="Times New Roman" panose="02020603050405020304" pitchFamily="18" charset="0"/>
              </a:rPr>
              <a:t>:</a:t>
            </a:r>
            <a:r>
              <a:rPr lang="en-US" sz="1800" b="1" dirty="0">
                <a:solidFill>
                  <a:srgbClr val="374151"/>
                </a:solidFill>
                <a:latin typeface="Times New Roman" panose="02020603050405020304" pitchFamily="18" charset="0"/>
                <a:cs typeface="Times New Roman" panose="02020603050405020304" pitchFamily="18" charset="0"/>
              </a:rPr>
              <a:t>. Displaying Finger Gesture Percentage</a:t>
            </a:r>
            <a:endParaRPr lang="en-US"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IN" sz="1800" b="1" dirty="0">
              <a:latin typeface="Times New Roman" panose="02020603050405020304" pitchFamily="18" charset="0"/>
              <a:cs typeface="Times New Roman" panose="02020603050405020304" pitchFamily="18" charset="0"/>
            </a:endParaRPr>
          </a:p>
          <a:p>
            <a:pPr marL="0" indent="0">
              <a:buFont typeface="Wingdings" pitchFamily="2" charset="2"/>
              <a:buNone/>
            </a:pPr>
            <a:endParaRPr lang="en-US" sz="1800" b="1" dirty="0">
              <a:latin typeface="Times New Roman" panose="02020603050405020304" pitchFamily="18" charset="0"/>
              <a:cs typeface="Times New Roman" panose="02020603050405020304" pitchFamily="18" charset="0"/>
            </a:endParaRPr>
          </a:p>
          <a:p>
            <a:pPr marL="0" indent="0">
              <a:buFont typeface="Wingdings" pitchFamily="2" charset="2"/>
              <a:buNone/>
            </a:pPr>
            <a:r>
              <a:rPr lang="en-US" sz="1800" b="1" dirty="0">
                <a:latin typeface="Times New Roman" panose="02020603050405020304" pitchFamily="18" charset="0"/>
                <a:cs typeface="Times New Roman" panose="02020603050405020304" pitchFamily="18" charset="0"/>
              </a:rPr>
              <a:t>Module 6:Conclusion and Cleanup Releasing the webcam resource.</a:t>
            </a:r>
            <a:endParaRPr lang="en-IN" sz="1800" b="1" dirty="0">
              <a:latin typeface="Times New Roman" panose="02020603050405020304" pitchFamily="18" charset="0"/>
              <a:cs typeface="Times New Roman" panose="02020603050405020304" pitchFamily="18" charset="0"/>
            </a:endParaRPr>
          </a:p>
        </p:txBody>
      </p:sp>
      <p:pic>
        <p:nvPicPr>
          <p:cNvPr id="12" name="Picture 11" descr="A computer screen with text">
            <a:extLst>
              <a:ext uri="{FF2B5EF4-FFF2-40B4-BE49-F238E27FC236}">
                <a16:creationId xmlns:a16="http://schemas.microsoft.com/office/drawing/2014/main" id="{1C1D3589-A4D9-DE7A-C6CA-60B043959F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968" y="841884"/>
            <a:ext cx="10163331" cy="2249377"/>
          </a:xfrm>
          <a:prstGeom prst="rect">
            <a:avLst/>
          </a:prstGeom>
        </p:spPr>
      </p:pic>
      <p:pic>
        <p:nvPicPr>
          <p:cNvPr id="14" name="Picture 13" descr="A computer screen with words">
            <a:extLst>
              <a:ext uri="{FF2B5EF4-FFF2-40B4-BE49-F238E27FC236}">
                <a16:creationId xmlns:a16="http://schemas.microsoft.com/office/drawing/2014/main" id="{4E4FE434-94D5-8353-D094-54AE59FFAF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968" y="3766740"/>
            <a:ext cx="5912271" cy="2003882"/>
          </a:xfrm>
          <a:prstGeom prst="rect">
            <a:avLst/>
          </a:prstGeom>
        </p:spPr>
      </p:pic>
      <p:sp>
        <p:nvSpPr>
          <p:cNvPr id="7" name="TextBox 6">
            <a:extLst>
              <a:ext uri="{FF2B5EF4-FFF2-40B4-BE49-F238E27FC236}">
                <a16:creationId xmlns:a16="http://schemas.microsoft.com/office/drawing/2014/main" id="{DF1BE0EA-A1BA-1B8C-D8C6-F88CAD9F1CDB}"/>
              </a:ext>
            </a:extLst>
          </p:cNvPr>
          <p:cNvSpPr txBox="1"/>
          <p:nvPr/>
        </p:nvSpPr>
        <p:spPr>
          <a:xfrm>
            <a:off x="3660946" y="3046996"/>
            <a:ext cx="1405053" cy="369332"/>
          </a:xfrm>
          <a:prstGeom prst="rect">
            <a:avLst/>
          </a:prstGeom>
          <a:noFill/>
        </p:spPr>
        <p:txBody>
          <a:bodyPr wrap="square" rtlCol="0">
            <a:spAutoFit/>
          </a:bodyPr>
          <a:lstStyle/>
          <a:p>
            <a:r>
              <a:rPr lang="en-US" b="1" dirty="0">
                <a:solidFill>
                  <a:srgbClr val="7030A0"/>
                </a:solidFill>
                <a:latin typeface="Times New Roman" panose="02020603050405020304" pitchFamily="18" charset="0"/>
                <a:cs typeface="Times New Roman" panose="02020603050405020304" pitchFamily="18" charset="0"/>
              </a:rPr>
              <a:t>Fig 6.5</a:t>
            </a:r>
            <a:endParaRPr lang="en-IN" b="1" dirty="0">
              <a:solidFill>
                <a:srgbClr val="7030A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EAF2238-C4CF-00C0-5252-90EE2EED4853}"/>
              </a:ext>
            </a:extLst>
          </p:cNvPr>
          <p:cNvSpPr txBox="1"/>
          <p:nvPr/>
        </p:nvSpPr>
        <p:spPr>
          <a:xfrm>
            <a:off x="3660946" y="5842624"/>
            <a:ext cx="1405053" cy="369332"/>
          </a:xfrm>
          <a:prstGeom prst="rect">
            <a:avLst/>
          </a:prstGeom>
          <a:noFill/>
        </p:spPr>
        <p:txBody>
          <a:bodyPr wrap="square" rtlCol="0">
            <a:spAutoFit/>
          </a:bodyPr>
          <a:lstStyle/>
          <a:p>
            <a:r>
              <a:rPr lang="en-US" b="1" dirty="0">
                <a:solidFill>
                  <a:srgbClr val="7030A0"/>
                </a:solidFill>
                <a:latin typeface="Times New Roman" panose="02020603050405020304" pitchFamily="18" charset="0"/>
                <a:cs typeface="Times New Roman" panose="02020603050405020304" pitchFamily="18" charset="0"/>
              </a:rPr>
              <a:t>Fig 6.6</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2927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E9DF2-67D5-3AF6-46B3-2365D42BA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85894-A317-8030-F983-25EB31FE109B}"/>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2BF8E50B-468A-8572-E394-9945F42D283A}"/>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9217CDB0-2874-2688-700E-98F07BFAD2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2B37F46A-A9EC-6D74-9DA0-86364819955A}"/>
              </a:ext>
            </a:extLst>
          </p:cNvPr>
          <p:cNvSpPr txBox="1">
            <a:spLocks/>
          </p:cNvSpPr>
          <p:nvPr/>
        </p:nvSpPr>
        <p:spPr>
          <a:xfrm>
            <a:off x="1025390" y="52066"/>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dirty="0">
                <a:solidFill>
                  <a:srgbClr val="7030A0"/>
                </a:solidFill>
                <a:latin typeface="Times New Roman" panose="02020603050405020304" pitchFamily="18" charset="0"/>
                <a:cs typeface="Times New Roman" panose="02020603050405020304" pitchFamily="18" charset="0"/>
              </a:rPr>
              <a:t> </a:t>
            </a:r>
            <a:r>
              <a:rPr lang="en-US" sz="3200" b="1" dirty="0">
                <a:solidFill>
                  <a:srgbClr val="7030A0"/>
                </a:solidFill>
                <a:latin typeface="Times New Roman" panose="02020603050405020304" pitchFamily="18" charset="0"/>
                <a:cs typeface="Times New Roman" panose="02020603050405020304" pitchFamily="18" charset="0"/>
              </a:rPr>
              <a:t>7</a:t>
            </a:r>
            <a:r>
              <a:rPr lang="en-US" dirty="0">
                <a:solidFill>
                  <a:srgbClr val="7030A0"/>
                </a:solidFill>
                <a:latin typeface="Times New Roman" panose="02020603050405020304" pitchFamily="18" charset="0"/>
                <a:cs typeface="Times New Roman" panose="02020603050405020304" pitchFamily="18" charset="0"/>
              </a:rPr>
              <a:t>.</a:t>
            </a:r>
            <a:r>
              <a:rPr lang="en-US" sz="3200" b="1" dirty="0">
                <a:solidFill>
                  <a:srgbClr val="7030A0"/>
                </a:solidFill>
                <a:latin typeface="Times New Roman" panose="02020603050405020304" pitchFamily="18" charset="0"/>
                <a:cs typeface="Times New Roman" panose="02020603050405020304" pitchFamily="18" charset="0"/>
              </a:rPr>
              <a:t>PERFORMANCE ANALYSIS</a:t>
            </a:r>
            <a:endParaRPr lang="en-IN" b="1" dirty="0">
              <a:solidFill>
                <a:srgbClr val="7030A0"/>
              </a:solidFill>
              <a:latin typeface="Times New Roman" panose="02020603050405020304" pitchFamily="18" charset="0"/>
              <a:cs typeface="Times New Roman" panose="02020603050405020304" pitchFamily="18" charset="0"/>
            </a:endParaRPr>
          </a:p>
        </p:txBody>
      </p:sp>
      <p:pic>
        <p:nvPicPr>
          <p:cNvPr id="8" name="Picture 7" descr="A screen shot of a computer">
            <a:extLst>
              <a:ext uri="{FF2B5EF4-FFF2-40B4-BE49-F238E27FC236}">
                <a16:creationId xmlns:a16="http://schemas.microsoft.com/office/drawing/2014/main" id="{F11800A3-466B-68FD-8966-6ED3633B63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3980" y="1228719"/>
            <a:ext cx="10141220" cy="5044190"/>
          </a:xfrm>
          <a:prstGeom prst="rect">
            <a:avLst/>
          </a:prstGeom>
        </p:spPr>
      </p:pic>
      <p:sp>
        <p:nvSpPr>
          <p:cNvPr id="5" name="TextBox 4">
            <a:extLst>
              <a:ext uri="{FF2B5EF4-FFF2-40B4-BE49-F238E27FC236}">
                <a16:creationId xmlns:a16="http://schemas.microsoft.com/office/drawing/2014/main" id="{ED47780B-4381-DC0E-009A-6AFDF7F23CF2}"/>
              </a:ext>
            </a:extLst>
          </p:cNvPr>
          <p:cNvSpPr txBox="1"/>
          <p:nvPr/>
        </p:nvSpPr>
        <p:spPr>
          <a:xfrm>
            <a:off x="5309729" y="6270743"/>
            <a:ext cx="1405053" cy="369332"/>
          </a:xfrm>
          <a:prstGeom prst="rect">
            <a:avLst/>
          </a:prstGeom>
          <a:noFill/>
        </p:spPr>
        <p:txBody>
          <a:bodyPr wrap="square" rtlCol="0">
            <a:spAutoFit/>
          </a:bodyPr>
          <a:lstStyle/>
          <a:p>
            <a:r>
              <a:rPr lang="en-US" b="1" dirty="0">
                <a:solidFill>
                  <a:srgbClr val="7030A0"/>
                </a:solidFill>
                <a:latin typeface="Times New Roman" panose="02020603050405020304" pitchFamily="18" charset="0"/>
                <a:cs typeface="Times New Roman" panose="02020603050405020304" pitchFamily="18" charset="0"/>
              </a:rPr>
              <a:t>Fig 7.1</a:t>
            </a:r>
            <a:endParaRPr lang="en-IN"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721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EBDE5-1071-2F54-A216-8103A7E42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51F96-C8F7-477E-558F-03F2FFE6E449}"/>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DA9D842B-4271-D4F3-BA9F-6115E8B46D0B}"/>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F045A003-5684-E1D9-2942-767FF0F2F8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33623B31-F1E0-FB18-A183-E2A7E13DE59D}"/>
              </a:ext>
            </a:extLst>
          </p:cNvPr>
          <p:cNvSpPr txBox="1">
            <a:spLocks/>
          </p:cNvSpPr>
          <p:nvPr/>
        </p:nvSpPr>
        <p:spPr>
          <a:xfrm>
            <a:off x="1063752" y="-37097"/>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200" b="1" dirty="0">
                <a:solidFill>
                  <a:srgbClr val="7030A0"/>
                </a:solidFill>
                <a:latin typeface="Times New Roman" panose="02020603050405020304" pitchFamily="18" charset="0"/>
                <a:cs typeface="Times New Roman" panose="02020603050405020304" pitchFamily="18" charset="0"/>
              </a:rPr>
              <a:t>8.SYSTEM TESTING :</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F8B1BBB0-6EBE-A574-BB4B-7F7FBAB0E22B}"/>
              </a:ext>
            </a:extLst>
          </p:cNvPr>
          <p:cNvSpPr txBox="1">
            <a:spLocks/>
          </p:cNvSpPr>
          <p:nvPr/>
        </p:nvSpPr>
        <p:spPr>
          <a:xfrm>
            <a:off x="614597" y="966502"/>
            <a:ext cx="11047752" cy="5891498"/>
          </a:xfrm>
          <a:prstGeom prst="rect">
            <a:avLst/>
          </a:prstGeom>
        </p:spPr>
        <p:txBody>
          <a:bodyPr vert="horz" lIns="91440" tIns="45720" rIns="91440" bIns="45720" rtlCol="0">
            <a:normAutofit fontScale="70000" lnSpcReduction="2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457200" indent="-457200">
              <a:lnSpc>
                <a:spcPct val="100000"/>
              </a:lnSpc>
              <a:buAutoNum type="arabicPeriod"/>
            </a:pPr>
            <a:r>
              <a:rPr lang="en-US" sz="2900" b="1" dirty="0">
                <a:latin typeface="Times New Roman" panose="02020603050405020304" pitchFamily="18" charset="0"/>
                <a:cs typeface="Times New Roman" panose="02020603050405020304" pitchFamily="18" charset="0"/>
              </a:rPr>
              <a:t>Functionality Testing</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The complete gesture-controlled system is tested to ensure every gesture performs the correct action. Hand movement must translate smoothly into cursor motion, and gestures like click, screenshot, and hold are verified individually. </a:t>
            </a:r>
          </a:p>
          <a:p>
            <a:pPr marL="457200" indent="-457200">
              <a:lnSpc>
                <a:spcPct val="100000"/>
              </a:lnSpc>
              <a:buAutoNum type="arabicPeriod"/>
            </a:pPr>
            <a:r>
              <a:rPr lang="en-US" sz="2900" b="1" dirty="0">
                <a:latin typeface="Times New Roman" panose="02020603050405020304" pitchFamily="18" charset="0"/>
                <a:cs typeface="Times New Roman" panose="02020603050405020304" pitchFamily="18" charset="0"/>
              </a:rPr>
              <a:t>Performance Testing</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The system is evaluated for frame-processing speed, responsiveness, and real-time accuracy. Average detection time per frame is measured, and the delay between performing a gesture and its execution is checked.</a:t>
            </a:r>
          </a:p>
          <a:p>
            <a:pPr marL="457200" indent="-457200">
              <a:lnSpc>
                <a:spcPct val="100000"/>
              </a:lnSpc>
              <a:buAutoNum type="arabicPeriod"/>
            </a:pPr>
            <a:r>
              <a:rPr lang="en-US" sz="2900" b="1" dirty="0">
                <a:latin typeface="Times New Roman" panose="02020603050405020304" pitchFamily="18" charset="0"/>
                <a:cs typeface="Times New Roman" panose="02020603050405020304" pitchFamily="18" charset="0"/>
              </a:rPr>
              <a:t>Compatibility Testing</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Tests are conducted on multiple hardware and software setups. The system is run on different operating systems, webcam resolutions, and processors to ensure broad compatibility. </a:t>
            </a:r>
          </a:p>
          <a:p>
            <a:pPr marL="457200" indent="-457200">
              <a:lnSpc>
                <a:spcPct val="100000"/>
              </a:lnSpc>
              <a:buAutoNum type="arabicPeriod"/>
            </a:pPr>
            <a:r>
              <a:rPr lang="en-US" sz="2900" b="1" dirty="0">
                <a:latin typeface="Times New Roman" panose="02020603050405020304" pitchFamily="18" charset="0"/>
                <a:cs typeface="Times New Roman" panose="02020603050405020304" pitchFamily="18" charset="0"/>
              </a:rPr>
              <a:t>Usability Testing</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Users with varying experience levels interact with the system to determine how intuitive it is. Feedback is collected on comfort, ease of learning gestures, stability of cursor movement, and overall control experience. The goal is to ensure smooth operation even for first-time users.</a:t>
            </a:r>
          </a:p>
          <a:p>
            <a:pPr marL="457200" indent="-457200">
              <a:lnSpc>
                <a:spcPct val="100000"/>
              </a:lnSpc>
              <a:buAutoNum type="arabicPeriod"/>
            </a:pPr>
            <a:r>
              <a:rPr lang="en-US" sz="2900" b="1" dirty="0">
                <a:latin typeface="Times New Roman" panose="02020603050405020304" pitchFamily="18" charset="0"/>
                <a:cs typeface="Times New Roman" panose="02020603050405020304" pitchFamily="18" charset="0"/>
              </a:rPr>
              <a:t>Stress Testing</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The system is pushed beyond normal usage conditions. Testing involves low light conditions, fast and irregular hand movements, partial hand visibility, background disturbances, and multiple hands entering the frame. The system’s tolerance limits and failure points are identified for improvement</a:t>
            </a:r>
            <a:r>
              <a:rPr lang="en-US" sz="2900" dirty="0"/>
              <a:t>.</a:t>
            </a:r>
            <a:endParaRPr lang="en-US" sz="2900" dirty="0">
              <a:latin typeface="Times New Roman" panose="02020603050405020304" pitchFamily="18" charset="0"/>
              <a:cs typeface="Times New Roman" panose="02020603050405020304" pitchFamily="18" charset="0"/>
            </a:endParaRPr>
          </a:p>
          <a:p>
            <a:pPr marL="0" indent="0">
              <a:lnSpc>
                <a:spcPct val="10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9127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C6BAA-3872-252E-7BAE-3F52F0363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46A94-B849-A2E6-302F-6985060B31CA}"/>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8931028A-8EDD-7EF4-D8F5-32A790A4DCBC}"/>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435AF9F9-F5EC-9C1F-9443-9329006966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68850F7B-F365-E513-EEFF-04447CA737AA}"/>
              </a:ext>
            </a:extLst>
          </p:cNvPr>
          <p:cNvSpPr txBox="1">
            <a:spLocks/>
          </p:cNvSpPr>
          <p:nvPr/>
        </p:nvSpPr>
        <p:spPr>
          <a:xfrm>
            <a:off x="892464" y="67691"/>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200" b="1" dirty="0">
                <a:solidFill>
                  <a:srgbClr val="7030A0"/>
                </a:solidFill>
                <a:latin typeface="Times New Roman" panose="02020603050405020304" pitchFamily="18" charset="0"/>
                <a:cs typeface="Times New Roman" panose="02020603050405020304" pitchFamily="18" charset="0"/>
              </a:rPr>
              <a:t>9.CONCLUSION  AND FUTURE ENHANCEMENTS :</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2A6FA7C6-F971-A0DA-EC95-C6805C776E4F}"/>
              </a:ext>
            </a:extLst>
          </p:cNvPr>
          <p:cNvSpPr txBox="1">
            <a:spLocks/>
          </p:cNvSpPr>
          <p:nvPr/>
        </p:nvSpPr>
        <p:spPr>
          <a:xfrm>
            <a:off x="569626" y="1034321"/>
            <a:ext cx="10972800" cy="6895476"/>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nSpc>
                <a:spcPct val="100000"/>
              </a:lnSpc>
              <a:buNone/>
            </a:pPr>
            <a:r>
              <a:rPr lang="en-US" b="1" dirty="0">
                <a:solidFill>
                  <a:schemeClr val="accent2">
                    <a:lumMod val="50000"/>
                  </a:schemeClr>
                </a:solidFill>
                <a:latin typeface="Times New Roman" panose="02020603050405020304" pitchFamily="18" charset="0"/>
                <a:cs typeface="Times New Roman" panose="02020603050405020304" pitchFamily="18" charset="0"/>
              </a:rPr>
              <a:t> </a:t>
            </a:r>
            <a:r>
              <a:rPr lang="en-US" sz="2400" b="1" dirty="0">
                <a:solidFill>
                  <a:schemeClr val="accent2">
                    <a:lumMod val="50000"/>
                  </a:schemeClr>
                </a:solidFill>
                <a:latin typeface="Times New Roman" panose="02020603050405020304" pitchFamily="18" charset="0"/>
                <a:cs typeface="Times New Roman" panose="02020603050405020304" pitchFamily="18" charset="0"/>
              </a:rPr>
              <a:t> 9.1 CONCLUSION :</a:t>
            </a:r>
            <a:endParaRPr lang="en-US" b="1" dirty="0"/>
          </a:p>
          <a:p>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Gesture-Controlled Virtual Mouse</a:t>
            </a:r>
            <a:r>
              <a:rPr lang="en-US" dirty="0">
                <a:latin typeface="Times New Roman" panose="02020603050405020304" pitchFamily="18" charset="0"/>
                <a:cs typeface="Times New Roman" panose="02020603050405020304" pitchFamily="18" charset="0"/>
              </a:rPr>
              <a:t> successfully demonstrates how computer vision and real-time hand-gesture recognition can replace traditional hardware-based mouse control. </a:t>
            </a:r>
          </a:p>
          <a:p>
            <a:r>
              <a:rPr lang="en-US" dirty="0">
                <a:latin typeface="Times New Roman" panose="02020603050405020304" pitchFamily="18" charset="0"/>
                <a:cs typeface="Times New Roman" panose="02020603050405020304" pitchFamily="18" charset="0"/>
              </a:rPr>
              <a:t>By accurately detecting hand movements and translating them into mouse actions, the system offers a touch-free, intuitive, and accessible method of interaction. </a:t>
            </a:r>
          </a:p>
          <a:p>
            <a:r>
              <a:rPr lang="en-US" dirty="0">
                <a:latin typeface="Times New Roman" panose="02020603050405020304" pitchFamily="18" charset="0"/>
                <a:cs typeface="Times New Roman" panose="02020603050405020304" pitchFamily="18" charset="0"/>
              </a:rPr>
              <a:t>This project highlights the potential of AI-based gesture recognition to enhance convenience, reduce dependency on physical devices, and open new possibilities for human–computer interaction in modern computing environments.</a:t>
            </a:r>
          </a:p>
          <a:p>
            <a:pPr marL="0" indent="0">
              <a:buNone/>
            </a:pPr>
            <a:r>
              <a:rPr lang="en-US" sz="2400" b="1" dirty="0">
                <a:solidFill>
                  <a:schemeClr val="accent2">
                    <a:lumMod val="50000"/>
                  </a:schemeClr>
                </a:solidFill>
                <a:latin typeface="Times New Roman" panose="02020603050405020304" pitchFamily="18" charset="0"/>
                <a:cs typeface="Times New Roman" panose="02020603050405020304" pitchFamily="18" charset="0"/>
              </a:rPr>
              <a:t> 9.2 FUTURE ENHANCEMENTS :</a:t>
            </a:r>
          </a:p>
          <a:p>
            <a:pPr>
              <a:lnSpc>
                <a:spcPct val="100000"/>
              </a:lnSpc>
            </a:pPr>
            <a:r>
              <a:rPr lang="en-US" b="1" dirty="0">
                <a:latin typeface="Times New Roman" panose="02020603050405020304" pitchFamily="18" charset="0"/>
                <a:cs typeface="Times New Roman" panose="02020603050405020304" pitchFamily="18" charset="0"/>
              </a:rPr>
              <a:t>Add More Gestures:</a:t>
            </a:r>
            <a:r>
              <a:rPr lang="en-US" dirty="0">
                <a:latin typeface="Times New Roman" panose="02020603050405020304" pitchFamily="18" charset="0"/>
                <a:cs typeface="Times New Roman" panose="02020603050405020304" pitchFamily="18" charset="0"/>
              </a:rPr>
              <a:t> Expand beyond basic cursor movement and clicks by introducing gestures for scrolling, drag-and-drop, and multi-finger controls.</a:t>
            </a:r>
          </a:p>
          <a:p>
            <a:pPr>
              <a:lnSpc>
                <a:spcPct val="100000"/>
              </a:lnSpc>
            </a:pPr>
            <a:r>
              <a:rPr lang="en-US" b="1" dirty="0">
                <a:latin typeface="Times New Roman" panose="02020603050405020304" pitchFamily="18" charset="0"/>
                <a:cs typeface="Times New Roman" panose="02020603050405020304" pitchFamily="18" charset="0"/>
              </a:rPr>
              <a:t>Improve Accuracy:</a:t>
            </a:r>
            <a:r>
              <a:rPr lang="en-US" dirty="0">
                <a:latin typeface="Times New Roman" panose="02020603050405020304" pitchFamily="18" charset="0"/>
                <a:cs typeface="Times New Roman" panose="02020603050405020304" pitchFamily="18" charset="0"/>
              </a:rPr>
              <a:t> Enhance hand-landmark detection to perform better in low-light and noisy backgrounds.</a:t>
            </a:r>
          </a:p>
          <a:p>
            <a:pPr>
              <a:lnSpc>
                <a:spcPct val="100000"/>
              </a:lnSpc>
            </a:pPr>
            <a:r>
              <a:rPr lang="en-US" b="1" dirty="0">
                <a:latin typeface="Times New Roman" panose="02020603050405020304" pitchFamily="18" charset="0"/>
                <a:cs typeface="Times New Roman" panose="02020603050405020304" pitchFamily="18" charset="0"/>
              </a:rPr>
              <a:t>Advanced Gesture Recognition:</a:t>
            </a:r>
            <a:r>
              <a:rPr lang="en-US" dirty="0">
                <a:latin typeface="Times New Roman" panose="02020603050405020304" pitchFamily="18" charset="0"/>
                <a:cs typeface="Times New Roman" panose="02020603050405020304" pitchFamily="18" charset="0"/>
              </a:rPr>
              <a:t> Add support for complex gestures like zooming, rotating, and multi-hand interactions.</a:t>
            </a:r>
            <a:endParaRPr lang="en-US" b="1"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996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DBC1-090E-8610-B899-FC539E2EF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E71E9-95FD-9B2E-12A4-F72356CEA4F5}"/>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4F8E8303-E438-8530-FF94-013DB32BFF5C}"/>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ED47F840-FCF7-98AE-D47A-2B126C1F05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itle 1">
            <a:extLst>
              <a:ext uri="{FF2B5EF4-FFF2-40B4-BE49-F238E27FC236}">
                <a16:creationId xmlns:a16="http://schemas.microsoft.com/office/drawing/2014/main" id="{3D9D2BA1-9ACD-C1C3-DE17-C28AA8A787E7}"/>
              </a:ext>
            </a:extLst>
          </p:cNvPr>
          <p:cNvSpPr txBox="1">
            <a:spLocks/>
          </p:cNvSpPr>
          <p:nvPr/>
        </p:nvSpPr>
        <p:spPr>
          <a:xfrm>
            <a:off x="480935" y="12503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200" b="1" dirty="0">
                <a:solidFill>
                  <a:srgbClr val="7030A0"/>
                </a:solidFill>
                <a:latin typeface="Times New Roman" panose="02020603050405020304" pitchFamily="18" charset="0"/>
                <a:cs typeface="Times New Roman" panose="02020603050405020304" pitchFamily="18" charset="0"/>
              </a:rPr>
              <a:t>10.REFERENCES :</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E10F04E-2BAD-AF56-1636-3C69E8277EA2}"/>
              </a:ext>
            </a:extLst>
          </p:cNvPr>
          <p:cNvSpPr txBox="1">
            <a:spLocks/>
          </p:cNvSpPr>
          <p:nvPr/>
        </p:nvSpPr>
        <p:spPr>
          <a:xfrm>
            <a:off x="685800" y="1063706"/>
            <a:ext cx="10515600" cy="5309662"/>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endParaRPr lang="en-IN" sz="2400" dirty="0">
              <a:latin typeface="Times New Roman" panose="02020603050405020304" pitchFamily="18" charset="0"/>
              <a:cs typeface="Times New Roman" panose="02020603050405020304" pitchFamily="18" charset="0"/>
            </a:endParaRPr>
          </a:p>
          <a:p>
            <a:pPr>
              <a:defRPr sz="1600"/>
            </a:pPr>
            <a:r>
              <a:rPr lang="en-IN" sz="1800" dirty="0">
                <a:latin typeface="Times New Roman" panose="02020603050405020304" pitchFamily="18" charset="0"/>
                <a:cs typeface="Times New Roman" panose="02020603050405020304" pitchFamily="18" charset="0"/>
              </a:rPr>
              <a:t>[1] A. Sen, T. K. Mishra, and R. Dash, “Deep learning based hand gesture recognition system and design of a human–machine interface,” arXiv:2207.03112, 2022.</a:t>
            </a:r>
          </a:p>
          <a:p>
            <a:pPr>
              <a:defRPr sz="1600"/>
            </a:pPr>
            <a:r>
              <a:rPr lang="en-IN" sz="1800" dirty="0">
                <a:latin typeface="Times New Roman" panose="02020603050405020304" pitchFamily="18" charset="0"/>
                <a:cs typeface="Times New Roman" panose="02020603050405020304" pitchFamily="18" charset="0"/>
              </a:rPr>
              <a:t>[2] J. Pinto and R. Fernandes, “Real-Time Hand Gesture Controlled Virtual Mouse using Computer Vision,” IJSRM, 2023.</a:t>
            </a:r>
          </a:p>
          <a:p>
            <a:pPr>
              <a:defRPr sz="1600"/>
            </a:pPr>
            <a:r>
              <a:rPr lang="en-IN" sz="1800" dirty="0">
                <a:latin typeface="Times New Roman" panose="02020603050405020304" pitchFamily="18" charset="0"/>
                <a:cs typeface="Times New Roman" panose="02020603050405020304" pitchFamily="18" charset="0"/>
              </a:rPr>
              <a:t>[3] M. Waichal and S. Deshpande, “Hand Gesture Recognition-based Virtual Mouse Using CNN,” IJCA, 2022.</a:t>
            </a:r>
          </a:p>
          <a:p>
            <a:pPr>
              <a:defRPr sz="1600"/>
            </a:pPr>
            <a:r>
              <a:rPr lang="en-IN" sz="1800" dirty="0">
                <a:latin typeface="Times New Roman" panose="02020603050405020304" pitchFamily="18" charset="0"/>
                <a:cs typeface="Times New Roman" panose="02020603050405020304" pitchFamily="18" charset="0"/>
              </a:rPr>
              <a:t>[4] M. Emporio, “Continuous Hand Gesture Recognition: Benchmarks and Techniques,” Elsevier/ScienceDirect, 2025.</a:t>
            </a:r>
          </a:p>
          <a:p>
            <a:pPr>
              <a:defRPr sz="1600"/>
            </a:pPr>
            <a:r>
              <a:rPr lang="en-IN" sz="1800" dirty="0">
                <a:latin typeface="Times New Roman" panose="02020603050405020304" pitchFamily="18" charset="0"/>
                <a:cs typeface="Times New Roman" panose="02020603050405020304" pitchFamily="18" charset="0"/>
              </a:rPr>
              <a:t>[5] S. Kasar, P. Gaikwad, and R. Deshmukh, “AI-Based Real-Time Hand Gesture-Controlled Virtual Mouse,” IJETAE, 2024.</a:t>
            </a:r>
          </a:p>
          <a:p>
            <a:pPr>
              <a:defRPr sz="1600"/>
            </a:pPr>
            <a:r>
              <a:rPr lang="en-IN" sz="1800" dirty="0">
                <a:latin typeface="Times New Roman" panose="02020603050405020304" pitchFamily="18" charset="0"/>
                <a:cs typeface="Times New Roman" panose="02020603050405020304" pitchFamily="18" charset="0"/>
              </a:rPr>
              <a:t>[6] A. Chaitanya and A. Ahmed, “Hand Gesture Based Virtual Mouse Using </a:t>
            </a:r>
            <a:r>
              <a:rPr lang="en-IN" sz="1800" dirty="0" err="1">
                <a:latin typeface="Times New Roman" panose="02020603050405020304" pitchFamily="18" charset="0"/>
                <a:cs typeface="Times New Roman" panose="02020603050405020304" pitchFamily="18" charset="0"/>
              </a:rPr>
              <a:t>MediaPipe</a:t>
            </a:r>
            <a:r>
              <a:rPr lang="en-IN" sz="1800" dirty="0">
                <a:latin typeface="Times New Roman" panose="02020603050405020304" pitchFamily="18" charset="0"/>
                <a:cs typeface="Times New Roman" panose="02020603050405020304" pitchFamily="18" charset="0"/>
              </a:rPr>
              <a:t> and OpenCV,” IJCRT, 2024.</a:t>
            </a:r>
          </a:p>
          <a:p>
            <a:pPr>
              <a:defRPr sz="1600"/>
            </a:pPr>
            <a:r>
              <a:rPr lang="en-IN" sz="1800" dirty="0">
                <a:latin typeface="Times New Roman" panose="02020603050405020304" pitchFamily="18" charset="0"/>
                <a:cs typeface="Times New Roman" panose="02020603050405020304" pitchFamily="18" charset="0"/>
              </a:rPr>
              <a:t>[7] M. Ali and S. Ahmad, “Hand Gesture Recognition for Virtual Mouse Control,” I-JIM, 2025.</a:t>
            </a:r>
          </a:p>
          <a:p>
            <a:pPr>
              <a:defRPr sz="1600"/>
            </a:pPr>
            <a:r>
              <a:rPr lang="en-IN" sz="1800" dirty="0">
                <a:latin typeface="Times New Roman" panose="02020603050405020304" pitchFamily="18" charset="0"/>
                <a:cs typeface="Times New Roman" panose="02020603050405020304" pitchFamily="18" charset="0"/>
              </a:rPr>
              <a:t>[8] R. Kumar and S. Singh, “Virtual Mouse System Using Hand Gestures with </a:t>
            </a:r>
            <a:r>
              <a:rPr lang="en-IN" sz="1800" dirty="0" err="1">
                <a:latin typeface="Times New Roman" panose="02020603050405020304" pitchFamily="18" charset="0"/>
                <a:cs typeface="Times New Roman" panose="02020603050405020304" pitchFamily="18" charset="0"/>
              </a:rPr>
              <a:t>MediaPipe</a:t>
            </a:r>
            <a:r>
              <a:rPr lang="en-IN" sz="1800" dirty="0">
                <a:latin typeface="Times New Roman" panose="02020603050405020304" pitchFamily="18" charset="0"/>
                <a:cs typeface="Times New Roman" panose="02020603050405020304" pitchFamily="18" charset="0"/>
              </a:rPr>
              <a:t> Tracking,” IJIRSET, 2025.</a:t>
            </a:r>
          </a:p>
          <a:p>
            <a:pPr>
              <a:defRPr sz="1600"/>
            </a:pPr>
            <a:r>
              <a:rPr lang="en-IN" sz="1800" dirty="0">
                <a:latin typeface="Times New Roman" panose="02020603050405020304" pitchFamily="18" charset="0"/>
                <a:cs typeface="Times New Roman" panose="02020603050405020304" pitchFamily="18" charset="0"/>
              </a:rPr>
              <a:t>[9] J. Sabrin and A. </a:t>
            </a:r>
            <a:r>
              <a:rPr lang="en-IN" sz="1800" dirty="0" err="1">
                <a:latin typeface="Times New Roman" panose="02020603050405020304" pitchFamily="18" charset="0"/>
                <a:cs typeface="Times New Roman" panose="02020603050405020304" pitchFamily="18" charset="0"/>
              </a:rPr>
              <a:t>Karande</a:t>
            </a:r>
            <a:r>
              <a:rPr lang="en-IN" sz="1800" dirty="0">
                <a:latin typeface="Times New Roman" panose="02020603050405020304" pitchFamily="18" charset="0"/>
                <a:cs typeface="Times New Roman" panose="02020603050405020304" pitchFamily="18" charset="0"/>
              </a:rPr>
              <a:t>, “Real-Time Virtual Mouse Using Hand Gestures for Unconventional Environments,” ICCCNT, 2023.</a:t>
            </a:r>
          </a:p>
          <a:p>
            <a:pPr>
              <a:defRPr sz="1600"/>
            </a:pPr>
            <a:r>
              <a:rPr lang="en-IN" sz="1800" dirty="0">
                <a:latin typeface="Times New Roman" panose="02020603050405020304" pitchFamily="18" charset="0"/>
                <a:cs typeface="Times New Roman" panose="02020603050405020304" pitchFamily="18" charset="0"/>
              </a:rPr>
              <a:t>[10] Y. Jeevan and S. Kevin, “AI Virtual Mouse Using Hand Gestures,” ICNC, 2024.</a:t>
            </a:r>
          </a:p>
          <a:p>
            <a:pPr marL="0" indent="0" algn="just">
              <a:lnSpc>
                <a:spcPct val="150000"/>
              </a:lnSpc>
              <a:buFont typeface="Wingdings" pitchFamily="2" charset="2"/>
              <a:buNone/>
            </a:pPr>
            <a:endParaRPr lang="en-IN" sz="2200" dirty="0">
              <a:latin typeface="Times New Roman" panose="02020603050405020304" pitchFamily="18" charset="0"/>
              <a:cs typeface="Times New Roman" panose="02020603050405020304" pitchFamily="18" charset="0"/>
            </a:endParaRPr>
          </a:p>
          <a:p>
            <a:pPr marL="0" indent="0" algn="just">
              <a:lnSpc>
                <a:spcPct val="150000"/>
              </a:lnSpc>
              <a:buFont typeface="Wingdings" pitchFamily="2" charset="2"/>
              <a:buNone/>
            </a:pPr>
            <a:endParaRPr lang="en-US" sz="3200" u="sng"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4690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C526B-B27C-F293-7265-580EB8B69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134CD-0592-AE43-0DB4-78053EF5352E}"/>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25D67CD0-6CCD-5EC9-B52B-2929A49B1123}"/>
              </a:ext>
            </a:extLst>
          </p:cNvPr>
          <p:cNvSpPr>
            <a:spLocks noGrp="1"/>
          </p:cNvSpPr>
          <p:nvPr>
            <p:ph type="ftr" sz="quarter" idx="11"/>
          </p:nvPr>
        </p:nvSpPr>
        <p:spPr/>
        <p:txBody>
          <a:bodyPr/>
          <a:lstStyle/>
          <a:p>
            <a:r>
              <a:rPr lang="en-US"/>
              <a:t>DEPT OF CSE , CBIT - KOLAR</a:t>
            </a:r>
            <a:endParaRPr lang="en-IN"/>
          </a:p>
        </p:txBody>
      </p:sp>
      <p:pic>
        <p:nvPicPr>
          <p:cNvPr id="10" name="Content Placeholder 9" descr="A white rectangle with blue and white shapes">
            <a:extLst>
              <a:ext uri="{FF2B5EF4-FFF2-40B4-BE49-F238E27FC236}">
                <a16:creationId xmlns:a16="http://schemas.microsoft.com/office/drawing/2014/main" id="{E0309C45-028B-362E-4FE2-DF4D14B622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7312038"/>
          </a:xfrm>
        </p:spPr>
      </p:pic>
      <p:sp>
        <p:nvSpPr>
          <p:cNvPr id="3" name="TextBox 2">
            <a:extLst>
              <a:ext uri="{FF2B5EF4-FFF2-40B4-BE49-F238E27FC236}">
                <a16:creationId xmlns:a16="http://schemas.microsoft.com/office/drawing/2014/main" id="{AC0D71A9-507B-8683-EFF7-170F45E4A5FB}"/>
              </a:ext>
            </a:extLst>
          </p:cNvPr>
          <p:cNvSpPr txBox="1"/>
          <p:nvPr/>
        </p:nvSpPr>
        <p:spPr>
          <a:xfrm>
            <a:off x="2078636" y="2333518"/>
            <a:ext cx="8034727" cy="1569660"/>
          </a:xfrm>
          <a:prstGeom prst="rect">
            <a:avLst/>
          </a:prstGeom>
          <a:noFill/>
        </p:spPr>
        <p:txBody>
          <a:bodyPr wrap="square" rtlCol="0">
            <a:spAutoFit/>
          </a:bodyPr>
          <a:lstStyle/>
          <a:p>
            <a:r>
              <a:rPr lang="en-IN" sz="9600" dirty="0">
                <a:solidFill>
                  <a:srgbClr val="7030A0"/>
                </a:solidFill>
                <a:latin typeface="Amasis MT Pro Black" panose="02040A04050005020304" pitchFamily="18" charset="0"/>
              </a:rPr>
              <a:t>THANK</a:t>
            </a:r>
            <a:r>
              <a:rPr lang="en-IN" sz="9600" dirty="0">
                <a:latin typeface="Amasis MT Pro Black" panose="02040A04050005020304" pitchFamily="18" charset="0"/>
              </a:rPr>
              <a:t> </a:t>
            </a:r>
            <a:r>
              <a:rPr lang="en-IN" sz="9600" dirty="0">
                <a:solidFill>
                  <a:srgbClr val="7030A0"/>
                </a:solidFill>
                <a:latin typeface="Amasis MT Pro Black" panose="02040A04050005020304" pitchFamily="18" charset="0"/>
              </a:rPr>
              <a:t>YOU</a:t>
            </a:r>
          </a:p>
        </p:txBody>
      </p:sp>
    </p:spTree>
    <p:extLst>
      <p:ext uri="{BB962C8B-B14F-4D97-AF65-F5344CB8AC3E}">
        <p14:creationId xmlns:p14="http://schemas.microsoft.com/office/powerpoint/2010/main" val="14516736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871</TotalTime>
  <Words>1849</Words>
  <Application>Microsoft Office PowerPoint</Application>
  <PresentationFormat>Widescreen</PresentationFormat>
  <Paragraphs>158</Paragraphs>
  <Slides>19</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Amasis MT Pro Black</vt:lpstr>
      <vt:lpstr>Aptos Display</vt:lpstr>
      <vt:lpstr>Arial</vt:lpstr>
      <vt:lpstr>Arial Rounded MT Bold</vt:lpstr>
      <vt:lpstr>Calibri</vt:lpstr>
      <vt:lpstr>Rockwell</vt:lpstr>
      <vt:lpstr>Rockwell Condensed</vt:lpstr>
      <vt:lpstr>Times New Roman</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reethugowda123@outlook.com</dc:creator>
  <cp:lastModifiedBy>HARSHA SK</cp:lastModifiedBy>
  <cp:revision>21</cp:revision>
  <cp:lastPrinted>2025-11-24T17:33:11Z</cp:lastPrinted>
  <dcterms:created xsi:type="dcterms:W3CDTF">2024-07-23T14:28:07Z</dcterms:created>
  <dcterms:modified xsi:type="dcterms:W3CDTF">2025-12-02T04:41:12Z</dcterms:modified>
</cp:coreProperties>
</file>